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Bold" charset="1" panose="020B0704020202020204"/>
      <p:regular r:id="rId21"/>
    </p:embeddedFont>
    <p:embeddedFont>
      <p:font typeface="Overpass Light" charset="1" panose="00000000000000000000"/>
      <p:regular r:id="rId22"/>
    </p:embeddedFont>
    <p:embeddedFont>
      <p:font typeface="Consolas" charset="1" panose="020B060902020403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fonts/font32.fntdata" Type="http://schemas.openxmlformats.org/officeDocument/2006/relationships/font"/><Relationship Id="rId33" Target="notesSlides/notesSlide11.xml" Type="http://schemas.openxmlformats.org/officeDocument/2006/relationships/notesSlide"/><Relationship Id="rId34"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3.png" Type="http://schemas.openxmlformats.org/officeDocument/2006/relationships/image"/><Relationship Id="rId6" Target="../media/image17.pn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7850238" y="2435723"/>
            <a:ext cx="9445523" cy="3138488"/>
          </a:xfrm>
          <a:prstGeom prst="rect">
            <a:avLst/>
          </a:prstGeom>
        </p:spPr>
        <p:txBody>
          <a:bodyPr anchor="t" rtlCol="false" tIns="0" lIns="0" bIns="0" rIns="0">
            <a:spAutoFit/>
          </a:bodyPr>
          <a:lstStyle/>
          <a:p>
            <a:pPr algn="l">
              <a:lnSpc>
                <a:spcPts val="5990"/>
              </a:lnSpc>
            </a:pPr>
            <a:r>
              <a:rPr lang="en-US" sz="4800" b="true">
                <a:solidFill>
                  <a:srgbClr val="233939"/>
                </a:solidFill>
                <a:latin typeface="Arimo Bold"/>
                <a:ea typeface="Arimo Bold"/>
                <a:cs typeface="Arimo Bold"/>
                <a:sym typeface="Arimo Bold"/>
              </a:rPr>
              <a:t>Aplikasi Pengolahan Biodata Mahasiswa Menggunakan Fungsi String Pada Java Android Studio</a:t>
            </a:r>
          </a:p>
        </p:txBody>
      </p:sp>
      <p:sp>
        <p:nvSpPr>
          <p:cNvPr name="TextBox 11" id="11"/>
          <p:cNvSpPr txBox="true"/>
          <p:nvPr/>
        </p:nvSpPr>
        <p:spPr>
          <a:xfrm rot="0">
            <a:off x="7850238" y="5870077"/>
            <a:ext cx="9445523" cy="3790646"/>
          </a:xfrm>
          <a:prstGeom prst="rect">
            <a:avLst/>
          </a:prstGeom>
        </p:spPr>
        <p:txBody>
          <a:bodyPr anchor="t" rtlCol="false" tIns="0" lIns="0" bIns="0" rIns="0">
            <a:spAutoFit/>
          </a:bodyPr>
          <a:lstStyle/>
          <a:p>
            <a:pPr algn="l">
              <a:lnSpc>
                <a:spcPts val="3032"/>
              </a:lnSpc>
            </a:pPr>
            <a:r>
              <a:rPr lang="en-US" sz="1899">
                <a:solidFill>
                  <a:srgbClr val="3B4E4E"/>
                </a:solidFill>
                <a:latin typeface="Overpass Light"/>
                <a:ea typeface="Overpass Light"/>
                <a:cs typeface="Overpass Light"/>
                <a:sym typeface="Overpass Light"/>
              </a:rPr>
              <a:t>Di susun oleh :</a:t>
            </a:r>
          </a:p>
          <a:p>
            <a:pPr algn="l">
              <a:lnSpc>
                <a:spcPts val="3032"/>
              </a:lnSpc>
            </a:pPr>
            <a:r>
              <a:rPr lang="en-US" sz="1899">
                <a:solidFill>
                  <a:srgbClr val="3B4E4E"/>
                </a:solidFill>
                <a:latin typeface="Overpass Light"/>
                <a:ea typeface="Overpass Light"/>
                <a:cs typeface="Overpass Light"/>
                <a:sym typeface="Overpass Light"/>
              </a:rPr>
              <a:t>• </a:t>
            </a:r>
            <a:r>
              <a:rPr lang="en-US" sz="1899">
                <a:solidFill>
                  <a:srgbClr val="3B4E4E"/>
                </a:solidFill>
                <a:latin typeface="Overpass Light"/>
                <a:ea typeface="Overpass Light"/>
                <a:cs typeface="Overpass Light"/>
                <a:sym typeface="Overpass Light"/>
              </a:rPr>
              <a:t>Syahrizal Hamdalah (20240040310)</a:t>
            </a:r>
          </a:p>
          <a:p>
            <a:pPr algn="l">
              <a:lnSpc>
                <a:spcPts val="3032"/>
              </a:lnSpc>
            </a:pPr>
            <a:r>
              <a:rPr lang="en-US" sz="1899">
                <a:solidFill>
                  <a:srgbClr val="3B4E4E"/>
                </a:solidFill>
                <a:latin typeface="Overpass Light"/>
                <a:ea typeface="Overpass Light"/>
                <a:cs typeface="Overpass Light"/>
                <a:sym typeface="Overpass Light"/>
              </a:rPr>
              <a:t>• </a:t>
            </a:r>
            <a:r>
              <a:rPr lang="en-US" sz="1899">
                <a:solidFill>
                  <a:srgbClr val="3B4E4E"/>
                </a:solidFill>
                <a:latin typeface="Overpass Light"/>
                <a:ea typeface="Overpass Light"/>
                <a:cs typeface="Overpass Light"/>
                <a:sym typeface="Overpass Light"/>
              </a:rPr>
              <a:t>Javariau Bintang Muharram (20240040219)</a:t>
            </a:r>
          </a:p>
          <a:p>
            <a:pPr algn="l">
              <a:lnSpc>
                <a:spcPts val="3032"/>
              </a:lnSpc>
            </a:pPr>
            <a:r>
              <a:rPr lang="en-US" sz="1899">
                <a:solidFill>
                  <a:srgbClr val="3B4E4E"/>
                </a:solidFill>
                <a:latin typeface="Overpass Light"/>
                <a:ea typeface="Overpass Light"/>
                <a:cs typeface="Overpass Light"/>
                <a:sym typeface="Overpass Light"/>
              </a:rPr>
              <a:t>• </a:t>
            </a:r>
            <a:r>
              <a:rPr lang="en-US" sz="1899">
                <a:solidFill>
                  <a:srgbClr val="3B4E4E"/>
                </a:solidFill>
                <a:latin typeface="Overpass Light"/>
                <a:ea typeface="Overpass Light"/>
                <a:cs typeface="Overpass Light"/>
                <a:sym typeface="Overpass Light"/>
              </a:rPr>
              <a:t>Muhammad Sugih Yusuf (20240040181)</a:t>
            </a:r>
          </a:p>
          <a:p>
            <a:pPr algn="l">
              <a:lnSpc>
                <a:spcPts val="3032"/>
              </a:lnSpc>
            </a:pPr>
            <a:r>
              <a:rPr lang="en-US" sz="1899">
                <a:solidFill>
                  <a:srgbClr val="3B4E4E"/>
                </a:solidFill>
                <a:latin typeface="Overpass Light"/>
                <a:ea typeface="Overpass Light"/>
                <a:cs typeface="Overpass Light"/>
                <a:sym typeface="Overpass Light"/>
              </a:rPr>
              <a:t>• </a:t>
            </a:r>
            <a:r>
              <a:rPr lang="en-US" sz="1899">
                <a:solidFill>
                  <a:srgbClr val="3B4E4E"/>
                </a:solidFill>
                <a:latin typeface="Overpass Light"/>
                <a:ea typeface="Overpass Light"/>
                <a:cs typeface="Overpass Light"/>
                <a:sym typeface="Overpass Light"/>
              </a:rPr>
              <a:t>Nazwa Azzahra (20240040230)</a:t>
            </a:r>
          </a:p>
          <a:p>
            <a:pPr algn="l">
              <a:lnSpc>
                <a:spcPts val="3032"/>
              </a:lnSpc>
            </a:pPr>
            <a:r>
              <a:rPr lang="en-US" sz="1900">
                <a:solidFill>
                  <a:srgbClr val="3B4E4E"/>
                </a:solidFill>
                <a:latin typeface="Overpass Light"/>
                <a:ea typeface="Overpass Light"/>
                <a:cs typeface="Overpass Light"/>
                <a:sym typeface="Overpass Light"/>
              </a:rPr>
              <a:t>• </a:t>
            </a:r>
            <a:r>
              <a:rPr lang="en-US" sz="1900">
                <a:solidFill>
                  <a:srgbClr val="3B4E4E"/>
                </a:solidFill>
                <a:latin typeface="Overpass Light"/>
                <a:ea typeface="Overpass Light"/>
                <a:cs typeface="Overpass Light"/>
                <a:sym typeface="Overpass Light"/>
              </a:rPr>
              <a:t>Mifta Siti Maryam  (20240040072)</a:t>
            </a:r>
          </a:p>
          <a:p>
            <a:pPr algn="l">
              <a:lnSpc>
                <a:spcPts val="3032"/>
              </a:lnSpc>
            </a:pPr>
          </a:p>
          <a:p>
            <a:pPr algn="l">
              <a:lnSpc>
                <a:spcPts val="3032"/>
              </a:lnSpc>
            </a:pPr>
          </a:p>
          <a:p>
            <a:pPr algn="l">
              <a:lnSpc>
                <a:spcPts val="3032"/>
              </a:lnSpc>
            </a:pPr>
            <a:r>
              <a:rPr lang="en-US" sz="1899">
                <a:solidFill>
                  <a:srgbClr val="3B4E4E"/>
                </a:solidFill>
                <a:latin typeface="Overpass Light"/>
                <a:ea typeface="Overpass Light"/>
                <a:cs typeface="Overpass Light"/>
                <a:sym typeface="Overpass Light"/>
              </a:rPr>
              <a:t>Mata Kuliah: Pemrograman Berbasis Platfro</a:t>
            </a:r>
          </a:p>
          <a:p>
            <a:pPr algn="l">
              <a:lnSpc>
                <a:spcPts val="3032"/>
              </a:lnSpc>
            </a:pPr>
            <a:r>
              <a:rPr lang="en-US" sz="1900">
                <a:solidFill>
                  <a:srgbClr val="3B4E4E"/>
                </a:solidFill>
                <a:latin typeface="Overpass Light"/>
                <a:ea typeface="Overpass Light"/>
                <a:cs typeface="Overpass Light"/>
                <a:sym typeface="Overpass Light"/>
              </a:rPr>
              <a:t>Dosen : Alun Sujjada,S.Kom, M.T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1167260"/>
            <a:ext cx="7675512" cy="658263"/>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Pengertian String di Java</a:t>
            </a:r>
          </a:p>
        </p:txBody>
      </p:sp>
      <p:sp>
        <p:nvSpPr>
          <p:cNvPr name="TextBox 11" id="11"/>
          <p:cNvSpPr txBox="true"/>
          <p:nvPr/>
        </p:nvSpPr>
        <p:spPr>
          <a:xfrm rot="0">
            <a:off x="992238" y="2121398"/>
            <a:ext cx="9445523" cy="1266977"/>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String adalah tipe data yang menyimpan urutan karakter (teks). Di Java, objek String     bersifat immutable — setiap operasi menghasilkan objek String baru. String digunakan untuk     menyimpan nama, alamat, pesan, dan data teks lain dalam aplikasi.   </a:t>
            </a:r>
          </a:p>
        </p:txBody>
      </p:sp>
      <p:sp>
        <p:nvSpPr>
          <p:cNvPr name="Freeform 12" id="12" descr="preencoded.png"/>
          <p:cNvSpPr/>
          <p:nvPr/>
        </p:nvSpPr>
        <p:spPr>
          <a:xfrm flipH="false" flipV="false" rot="0">
            <a:off x="992238" y="3667420"/>
            <a:ext cx="620163" cy="620163"/>
          </a:xfrm>
          <a:custGeom>
            <a:avLst/>
            <a:gdLst/>
            <a:ahLst/>
            <a:cxnLst/>
            <a:rect r="r" b="b" t="t" l="l"/>
            <a:pathLst>
              <a:path h="620163" w="620163">
                <a:moveTo>
                  <a:pt x="0" y="0"/>
                </a:moveTo>
                <a:lnTo>
                  <a:pt x="620164" y="0"/>
                </a:lnTo>
                <a:lnTo>
                  <a:pt x="620164" y="620164"/>
                </a:lnTo>
                <a:lnTo>
                  <a:pt x="0" y="620164"/>
                </a:lnTo>
                <a:lnTo>
                  <a:pt x="0" y="0"/>
                </a:lnTo>
                <a:close/>
              </a:path>
            </a:pathLst>
          </a:custGeom>
          <a:blipFill>
            <a:blip r:embed="rId6">
              <a:extLst>
                <a:ext uri="{96DAC541-7B7A-43D3-8B79-37D633B846F1}">
                  <asvg:svgBlip xmlns:asvg="http://schemas.microsoft.com/office/drawing/2016/SVG/main" r:embed="rId7"/>
                </a:ext>
              </a:extLst>
            </a:blip>
            <a:stretch>
              <a:fillRect l="-15151" t="0" r="-15151" b="0"/>
            </a:stretch>
          </a:blipFill>
        </p:spPr>
      </p:sp>
      <p:sp>
        <p:nvSpPr>
          <p:cNvPr name="TextBox 13" id="13"/>
          <p:cNvSpPr txBox="true"/>
          <p:nvPr/>
        </p:nvSpPr>
        <p:spPr>
          <a:xfrm rot="0">
            <a:off x="992238" y="4578544"/>
            <a:ext cx="4015530"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Fungsi Bawaan</a:t>
            </a:r>
          </a:p>
        </p:txBody>
      </p:sp>
      <p:sp>
        <p:nvSpPr>
          <p:cNvPr name="TextBox 14" id="14"/>
          <p:cNvSpPr txBox="true"/>
          <p:nvPr/>
        </p:nvSpPr>
        <p:spPr>
          <a:xfrm rot="0">
            <a:off x="992238" y="5057927"/>
            <a:ext cx="9445523" cy="870052"/>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Java menyediakan banyak method seperti length(), substring(), indexOf(), trim(), toUpperCase(), toLowerCase() untuk memproses teks.</a:t>
            </a:r>
          </a:p>
        </p:txBody>
      </p:sp>
      <p:sp>
        <p:nvSpPr>
          <p:cNvPr name="Freeform 15" id="15" descr="preencoded.png"/>
          <p:cNvSpPr/>
          <p:nvPr/>
        </p:nvSpPr>
        <p:spPr>
          <a:xfrm flipH="false" flipV="false" rot="0">
            <a:off x="992238" y="6424022"/>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8">
              <a:extLst>
                <a:ext uri="{96DAC541-7B7A-43D3-8B79-37D633B846F1}">
                  <asvg:svgBlip xmlns:asvg="http://schemas.microsoft.com/office/drawing/2016/SVG/main" r:embed="rId9"/>
                </a:ext>
              </a:extLst>
            </a:blip>
            <a:stretch>
              <a:fillRect l="0" t="-9090" r="0" b="-9090"/>
            </a:stretch>
          </a:blipFill>
        </p:spPr>
      </p:sp>
      <p:sp>
        <p:nvSpPr>
          <p:cNvPr name="TextBox 16" id="16"/>
          <p:cNvSpPr txBox="true"/>
          <p:nvPr/>
        </p:nvSpPr>
        <p:spPr>
          <a:xfrm rot="0">
            <a:off x="992238" y="7335145"/>
            <a:ext cx="4015530"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Penerapan</a:t>
            </a:r>
          </a:p>
        </p:txBody>
      </p:sp>
      <p:sp>
        <p:nvSpPr>
          <p:cNvPr name="TextBox 17" id="17"/>
          <p:cNvSpPr txBox="true"/>
          <p:nvPr/>
        </p:nvSpPr>
        <p:spPr>
          <a:xfrm rot="0">
            <a:off x="992238" y="7814520"/>
            <a:ext cx="9445523" cy="1266977"/>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Penggunaan String dalam android studio Dalam aplikasi kami, String dipakai untuk memproses biodata mahasiswa: hitung panjang nama, ubah huruf, ekstrak bagian nama, dan cari posisi karakter.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759771" y="510035"/>
            <a:ext cx="4912366" cy="503482"/>
          </a:xfrm>
          <a:prstGeom prst="rect">
            <a:avLst/>
          </a:prstGeom>
        </p:spPr>
        <p:txBody>
          <a:bodyPr anchor="t" rtlCol="false" tIns="0" lIns="0" bIns="0" rIns="0">
            <a:spAutoFit/>
          </a:bodyPr>
          <a:lstStyle/>
          <a:p>
            <a:pPr algn="l">
              <a:lnSpc>
                <a:spcPts val="3619"/>
              </a:lnSpc>
            </a:pPr>
            <a:r>
              <a:rPr lang="en-US" sz="2900" b="true">
                <a:solidFill>
                  <a:srgbClr val="233939"/>
                </a:solidFill>
                <a:latin typeface="Arimo Bold"/>
                <a:ea typeface="Arimo Bold"/>
                <a:cs typeface="Arimo Bold"/>
                <a:sym typeface="Arimo Bold"/>
              </a:rPr>
              <a:t>Penjelasan Aplikasi</a:t>
            </a:r>
          </a:p>
        </p:txBody>
      </p:sp>
      <p:sp>
        <p:nvSpPr>
          <p:cNvPr name="TextBox 11" id="11"/>
          <p:cNvSpPr txBox="true"/>
          <p:nvPr/>
        </p:nvSpPr>
        <p:spPr>
          <a:xfrm rot="0">
            <a:off x="759771" y="1212504"/>
            <a:ext cx="9910467" cy="823617"/>
          </a:xfrm>
          <a:prstGeom prst="rect">
            <a:avLst/>
          </a:prstGeom>
        </p:spPr>
        <p:txBody>
          <a:bodyPr anchor="t" rtlCol="false" tIns="0" lIns="0" bIns="0" rIns="0">
            <a:spAutoFit/>
          </a:bodyPr>
          <a:lstStyle/>
          <a:p>
            <a:pPr algn="l">
              <a:lnSpc>
                <a:spcPts val="1982"/>
              </a:lnSpc>
            </a:pPr>
            <a:r>
              <a:rPr lang="en-US" sz="1399">
                <a:solidFill>
                  <a:srgbClr val="3B4E4E"/>
                </a:solidFill>
                <a:latin typeface="Overpass Light"/>
                <a:ea typeface="Overpass Light"/>
                <a:cs typeface="Overpass Light"/>
                <a:sym typeface="Overpass Light"/>
              </a:rPr>
              <a:t>     Aplikasi dibuat menggunakan Java di Android Studio. Tujuan: memproses biodata mahasiswa dengan     fungsi-fungsi String sehingga hasil (jumlah karakter, versi kapital/kecil, substring, posisi huruf)     dapat ditampilkan secara real-time pada antarmuka Android.   </a:t>
            </a:r>
          </a:p>
        </p:txBody>
      </p:sp>
      <p:grpSp>
        <p:nvGrpSpPr>
          <p:cNvPr name="Group 12" id="12"/>
          <p:cNvGrpSpPr/>
          <p:nvPr/>
        </p:nvGrpSpPr>
        <p:grpSpPr>
          <a:xfrm rot="0">
            <a:off x="1232297" y="2199684"/>
            <a:ext cx="8965406" cy="7116956"/>
            <a:chOff x="0" y="0"/>
            <a:chExt cx="11953875" cy="9489275"/>
          </a:xfrm>
        </p:grpSpPr>
        <p:sp>
          <p:nvSpPr>
            <p:cNvPr name="Freeform 13" id="13" descr="preencoded.png"/>
            <p:cNvSpPr/>
            <p:nvPr/>
          </p:nvSpPr>
          <p:spPr>
            <a:xfrm flipH="false" flipV="false" rot="0">
              <a:off x="0" y="0"/>
              <a:ext cx="11953875" cy="9489313"/>
            </a:xfrm>
            <a:custGeom>
              <a:avLst/>
              <a:gdLst/>
              <a:ahLst/>
              <a:cxnLst/>
              <a:rect r="r" b="b" t="t" l="l"/>
              <a:pathLst>
                <a:path h="9489313" w="11953875">
                  <a:moveTo>
                    <a:pt x="0" y="0"/>
                  </a:moveTo>
                  <a:lnTo>
                    <a:pt x="11953875" y="0"/>
                  </a:lnTo>
                  <a:lnTo>
                    <a:pt x="11953875" y="9489313"/>
                  </a:lnTo>
                  <a:lnTo>
                    <a:pt x="0" y="9489313"/>
                  </a:lnTo>
                  <a:lnTo>
                    <a:pt x="0" y="0"/>
                  </a:lnTo>
                  <a:close/>
                </a:path>
              </a:pathLst>
            </a:custGeom>
            <a:blipFill>
              <a:blip r:embed="rId6"/>
              <a:stretch>
                <a:fillRect l="0" t="0" r="0" b="0"/>
              </a:stretch>
            </a:blipFill>
          </p:spPr>
        </p:sp>
      </p:grpSp>
      <p:sp>
        <p:nvSpPr>
          <p:cNvPr name="TextBox 14" id="14"/>
          <p:cNvSpPr txBox="true"/>
          <p:nvPr/>
        </p:nvSpPr>
        <p:spPr>
          <a:xfrm rot="0">
            <a:off x="4897612" y="4960839"/>
            <a:ext cx="1611163" cy="1502197"/>
          </a:xfrm>
          <a:prstGeom prst="rect">
            <a:avLst/>
          </a:prstGeom>
        </p:spPr>
        <p:txBody>
          <a:bodyPr anchor="t" rtlCol="false" tIns="0" lIns="0" bIns="0" rIns="0">
            <a:spAutoFit/>
          </a:bodyPr>
          <a:lstStyle/>
          <a:p>
            <a:pPr algn="ctr">
              <a:lnSpc>
                <a:spcPts val="2870"/>
              </a:lnSpc>
            </a:pPr>
            <a:r>
              <a:rPr lang="en-US" sz="2300" b="true">
                <a:solidFill>
                  <a:srgbClr val="FFFFFF"/>
                </a:solidFill>
                <a:latin typeface="Arimo Bold"/>
                <a:ea typeface="Arimo Bold"/>
                <a:cs typeface="Arimo Bold"/>
                <a:sym typeface="Arimo Bold"/>
              </a:rPr>
              <a:t>Input → Processing → Output</a:t>
            </a:r>
          </a:p>
        </p:txBody>
      </p:sp>
      <p:sp>
        <p:nvSpPr>
          <p:cNvPr name="TextBox 15" id="15"/>
          <p:cNvSpPr txBox="true"/>
          <p:nvPr/>
        </p:nvSpPr>
        <p:spPr>
          <a:xfrm rot="0">
            <a:off x="6025382" y="2888761"/>
            <a:ext cx="2854090" cy="396983"/>
          </a:xfrm>
          <a:prstGeom prst="rect">
            <a:avLst/>
          </a:prstGeom>
        </p:spPr>
        <p:txBody>
          <a:bodyPr anchor="t" rtlCol="false" tIns="0" lIns="0" bIns="0" rIns="0">
            <a:spAutoFit/>
          </a:bodyPr>
          <a:lstStyle/>
          <a:p>
            <a:pPr algn="ctr">
              <a:lnSpc>
                <a:spcPts val="2870"/>
              </a:lnSpc>
            </a:pPr>
            <a:r>
              <a:rPr lang="en-US" sz="2300" b="true">
                <a:solidFill>
                  <a:srgbClr val="3B4E4E"/>
                </a:solidFill>
                <a:latin typeface="Arimo Bold"/>
                <a:ea typeface="Arimo Bold"/>
                <a:cs typeface="Arimo Bold"/>
                <a:sym typeface="Arimo Bold"/>
              </a:rPr>
              <a:t>User input</a:t>
            </a:r>
          </a:p>
        </p:txBody>
      </p:sp>
      <p:sp>
        <p:nvSpPr>
          <p:cNvPr name="TextBox 16" id="16"/>
          <p:cNvSpPr txBox="true"/>
          <p:nvPr/>
        </p:nvSpPr>
        <p:spPr>
          <a:xfrm rot="0">
            <a:off x="6482582" y="3400063"/>
            <a:ext cx="2396890" cy="510750"/>
          </a:xfrm>
          <a:prstGeom prst="rect">
            <a:avLst/>
          </a:prstGeom>
        </p:spPr>
        <p:txBody>
          <a:bodyPr anchor="t" rtlCol="false" tIns="0" lIns="0" bIns="0" rIns="0">
            <a:spAutoFit/>
          </a:bodyPr>
          <a:lstStyle/>
          <a:p>
            <a:pPr algn="ctr">
              <a:lnSpc>
                <a:spcPts val="1987"/>
              </a:lnSpc>
            </a:pPr>
            <a:r>
              <a:rPr lang="en-US" sz="1800">
                <a:solidFill>
                  <a:srgbClr val="3B4E4E"/>
                </a:solidFill>
                <a:latin typeface="Overpass Light"/>
                <a:ea typeface="Overpass Light"/>
                <a:cs typeface="Overpass Light"/>
                <a:sym typeface="Overpass Light"/>
              </a:rPr>
              <a:t>EditText for name entry</a:t>
            </a:r>
          </a:p>
        </p:txBody>
      </p:sp>
      <p:sp>
        <p:nvSpPr>
          <p:cNvPr name="TextBox 17" id="17"/>
          <p:cNvSpPr txBox="true"/>
          <p:nvPr/>
        </p:nvSpPr>
        <p:spPr>
          <a:xfrm rot="0">
            <a:off x="2030216" y="2888761"/>
            <a:ext cx="2854090" cy="396983"/>
          </a:xfrm>
          <a:prstGeom prst="rect">
            <a:avLst/>
          </a:prstGeom>
        </p:spPr>
        <p:txBody>
          <a:bodyPr anchor="t" rtlCol="false" tIns="0" lIns="0" bIns="0" rIns="0">
            <a:spAutoFit/>
          </a:bodyPr>
          <a:lstStyle/>
          <a:p>
            <a:pPr algn="ctr">
              <a:lnSpc>
                <a:spcPts val="2870"/>
              </a:lnSpc>
            </a:pPr>
            <a:r>
              <a:rPr lang="en-US" sz="2300" b="true">
                <a:solidFill>
                  <a:srgbClr val="3B4E4E"/>
                </a:solidFill>
                <a:latin typeface="Arimo Bold"/>
                <a:ea typeface="Arimo Bold"/>
                <a:cs typeface="Arimo Bold"/>
                <a:sym typeface="Arimo Bold"/>
              </a:rPr>
              <a:t>Index search</a:t>
            </a:r>
          </a:p>
        </p:txBody>
      </p:sp>
      <p:sp>
        <p:nvSpPr>
          <p:cNvPr name="TextBox 18" id="18"/>
          <p:cNvSpPr txBox="true"/>
          <p:nvPr/>
        </p:nvSpPr>
        <p:spPr>
          <a:xfrm rot="0">
            <a:off x="2487416" y="3400063"/>
            <a:ext cx="2396890" cy="510750"/>
          </a:xfrm>
          <a:prstGeom prst="rect">
            <a:avLst/>
          </a:prstGeom>
        </p:spPr>
        <p:txBody>
          <a:bodyPr anchor="t" rtlCol="false" tIns="0" lIns="0" bIns="0" rIns="0">
            <a:spAutoFit/>
          </a:bodyPr>
          <a:lstStyle/>
          <a:p>
            <a:pPr algn="ctr">
              <a:lnSpc>
                <a:spcPts val="1987"/>
              </a:lnSpc>
            </a:pPr>
            <a:r>
              <a:rPr lang="en-US" sz="1800">
                <a:solidFill>
                  <a:srgbClr val="3B4E4E"/>
                </a:solidFill>
                <a:latin typeface="Overpass Light"/>
                <a:ea typeface="Overpass Light"/>
                <a:cs typeface="Overpass Light"/>
                <a:sym typeface="Overpass Light"/>
              </a:rPr>
              <a:t>Find character positions</a:t>
            </a:r>
          </a:p>
        </p:txBody>
      </p:sp>
      <p:sp>
        <p:nvSpPr>
          <p:cNvPr name="TextBox 19" id="19"/>
          <p:cNvSpPr txBox="true"/>
          <p:nvPr/>
        </p:nvSpPr>
        <p:spPr>
          <a:xfrm rot="0">
            <a:off x="2487416" y="7380865"/>
            <a:ext cx="2396890" cy="765391"/>
          </a:xfrm>
          <a:prstGeom prst="rect">
            <a:avLst/>
          </a:prstGeom>
        </p:spPr>
        <p:txBody>
          <a:bodyPr anchor="t" rtlCol="false" tIns="0" lIns="0" bIns="0" rIns="0">
            <a:spAutoFit/>
          </a:bodyPr>
          <a:lstStyle/>
          <a:p>
            <a:pPr algn="ctr">
              <a:lnSpc>
                <a:spcPts val="2870"/>
              </a:lnSpc>
            </a:pPr>
            <a:r>
              <a:rPr lang="en-US" sz="2300" b="true">
                <a:solidFill>
                  <a:srgbClr val="3B4E4E"/>
                </a:solidFill>
                <a:latin typeface="Arimo Bold"/>
                <a:ea typeface="Arimo Bold"/>
                <a:cs typeface="Arimo Bold"/>
                <a:sym typeface="Arimo Bold"/>
              </a:rPr>
              <a:t>Case transforms</a:t>
            </a:r>
          </a:p>
        </p:txBody>
      </p:sp>
      <p:sp>
        <p:nvSpPr>
          <p:cNvPr name="TextBox 20" id="20"/>
          <p:cNvSpPr txBox="true"/>
          <p:nvPr/>
        </p:nvSpPr>
        <p:spPr>
          <a:xfrm rot="0">
            <a:off x="2487416" y="8260566"/>
            <a:ext cx="2396890" cy="510750"/>
          </a:xfrm>
          <a:prstGeom prst="rect">
            <a:avLst/>
          </a:prstGeom>
        </p:spPr>
        <p:txBody>
          <a:bodyPr anchor="t" rtlCol="false" tIns="0" lIns="0" bIns="0" rIns="0">
            <a:spAutoFit/>
          </a:bodyPr>
          <a:lstStyle/>
          <a:p>
            <a:pPr algn="ctr">
              <a:lnSpc>
                <a:spcPts val="1987"/>
              </a:lnSpc>
            </a:pPr>
            <a:r>
              <a:rPr lang="en-US" sz="1800">
                <a:solidFill>
                  <a:srgbClr val="3B4E4E"/>
                </a:solidFill>
                <a:latin typeface="Overpass Light"/>
                <a:ea typeface="Overpass Light"/>
                <a:cs typeface="Overpass Light"/>
                <a:sym typeface="Overpass Light"/>
              </a:rPr>
              <a:t>toUpperCase and toLowerCase</a:t>
            </a:r>
          </a:p>
        </p:txBody>
      </p:sp>
      <p:sp>
        <p:nvSpPr>
          <p:cNvPr name="TextBox 21" id="21"/>
          <p:cNvSpPr txBox="true"/>
          <p:nvPr/>
        </p:nvSpPr>
        <p:spPr>
          <a:xfrm rot="0">
            <a:off x="6025382" y="7695238"/>
            <a:ext cx="2854090" cy="396983"/>
          </a:xfrm>
          <a:prstGeom prst="rect">
            <a:avLst/>
          </a:prstGeom>
        </p:spPr>
        <p:txBody>
          <a:bodyPr anchor="t" rtlCol="false" tIns="0" lIns="0" bIns="0" rIns="0">
            <a:spAutoFit/>
          </a:bodyPr>
          <a:lstStyle/>
          <a:p>
            <a:pPr algn="ctr">
              <a:lnSpc>
                <a:spcPts val="2870"/>
              </a:lnSpc>
            </a:pPr>
            <a:r>
              <a:rPr lang="en-US" sz="2300" b="true">
                <a:solidFill>
                  <a:srgbClr val="3B4E4E"/>
                </a:solidFill>
                <a:latin typeface="Arimo Bold"/>
                <a:ea typeface="Arimo Bold"/>
                <a:cs typeface="Arimo Bold"/>
                <a:sym typeface="Arimo Bold"/>
              </a:rPr>
              <a:t>Length</a:t>
            </a:r>
          </a:p>
        </p:txBody>
      </p:sp>
      <p:sp>
        <p:nvSpPr>
          <p:cNvPr name="TextBox 22" id="22"/>
          <p:cNvSpPr txBox="true"/>
          <p:nvPr/>
        </p:nvSpPr>
        <p:spPr>
          <a:xfrm rot="0">
            <a:off x="6025382" y="8206540"/>
            <a:ext cx="2854090" cy="250612"/>
          </a:xfrm>
          <a:prstGeom prst="rect">
            <a:avLst/>
          </a:prstGeom>
        </p:spPr>
        <p:txBody>
          <a:bodyPr anchor="t" rtlCol="false" tIns="0" lIns="0" bIns="0" rIns="0">
            <a:spAutoFit/>
          </a:bodyPr>
          <a:lstStyle/>
          <a:p>
            <a:pPr algn="ctr">
              <a:lnSpc>
                <a:spcPts val="1987"/>
              </a:lnSpc>
            </a:pPr>
            <a:r>
              <a:rPr lang="en-US" sz="1800">
                <a:solidFill>
                  <a:srgbClr val="3B4E4E"/>
                </a:solidFill>
                <a:latin typeface="Overpass Light"/>
                <a:ea typeface="Overpass Light"/>
                <a:cs typeface="Overpass Light"/>
                <a:sym typeface="Overpass Light"/>
              </a:rPr>
              <a:t>Count characters</a:t>
            </a:r>
          </a:p>
        </p:txBody>
      </p:sp>
      <p:sp>
        <p:nvSpPr>
          <p:cNvPr name="TextBox 23" id="23"/>
          <p:cNvSpPr txBox="true"/>
          <p:nvPr/>
        </p:nvSpPr>
        <p:spPr>
          <a:xfrm rot="0">
            <a:off x="6889909" y="5194163"/>
            <a:ext cx="2906487" cy="396983"/>
          </a:xfrm>
          <a:prstGeom prst="rect">
            <a:avLst/>
          </a:prstGeom>
        </p:spPr>
        <p:txBody>
          <a:bodyPr anchor="t" rtlCol="false" tIns="0" lIns="0" bIns="0" rIns="0">
            <a:spAutoFit/>
          </a:bodyPr>
          <a:lstStyle/>
          <a:p>
            <a:pPr algn="ctr">
              <a:lnSpc>
                <a:spcPts val="2870"/>
              </a:lnSpc>
            </a:pPr>
            <a:r>
              <a:rPr lang="en-US" sz="2300" b="true">
                <a:solidFill>
                  <a:srgbClr val="3B4E4E"/>
                </a:solidFill>
                <a:latin typeface="Arimo Bold"/>
                <a:ea typeface="Arimo Bold"/>
                <a:cs typeface="Arimo Bold"/>
                <a:sym typeface="Arimo Bold"/>
              </a:rPr>
              <a:t>Trim</a:t>
            </a:r>
          </a:p>
        </p:txBody>
      </p:sp>
      <p:sp>
        <p:nvSpPr>
          <p:cNvPr name="TextBox 24" id="24"/>
          <p:cNvSpPr txBox="true"/>
          <p:nvPr/>
        </p:nvSpPr>
        <p:spPr>
          <a:xfrm rot="0">
            <a:off x="7347109" y="5705465"/>
            <a:ext cx="2449287" cy="510750"/>
          </a:xfrm>
          <a:prstGeom prst="rect">
            <a:avLst/>
          </a:prstGeom>
        </p:spPr>
        <p:txBody>
          <a:bodyPr anchor="t" rtlCol="false" tIns="0" lIns="0" bIns="0" rIns="0">
            <a:spAutoFit/>
          </a:bodyPr>
          <a:lstStyle/>
          <a:p>
            <a:pPr algn="ctr">
              <a:lnSpc>
                <a:spcPts val="1987"/>
              </a:lnSpc>
            </a:pPr>
            <a:r>
              <a:rPr lang="en-US" sz="1800">
                <a:solidFill>
                  <a:srgbClr val="3B4E4E"/>
                </a:solidFill>
                <a:latin typeface="Overpass Light"/>
                <a:ea typeface="Overpass Light"/>
                <a:cs typeface="Overpass Light"/>
                <a:sym typeface="Overpass Light"/>
              </a:rPr>
              <a:t>Remove leading/trailing spaces</a:t>
            </a:r>
          </a:p>
        </p:txBody>
      </p:sp>
      <p:sp>
        <p:nvSpPr>
          <p:cNvPr name="TextBox 25" id="25"/>
          <p:cNvSpPr txBox="true"/>
          <p:nvPr/>
        </p:nvSpPr>
        <p:spPr>
          <a:xfrm rot="0">
            <a:off x="1152592" y="5337439"/>
            <a:ext cx="2906487" cy="396983"/>
          </a:xfrm>
          <a:prstGeom prst="rect">
            <a:avLst/>
          </a:prstGeom>
        </p:spPr>
        <p:txBody>
          <a:bodyPr anchor="t" rtlCol="false" tIns="0" lIns="0" bIns="0" rIns="0">
            <a:spAutoFit/>
          </a:bodyPr>
          <a:lstStyle/>
          <a:p>
            <a:pPr algn="ctr">
              <a:lnSpc>
                <a:spcPts val="2870"/>
              </a:lnSpc>
            </a:pPr>
            <a:r>
              <a:rPr lang="en-US" sz="2300" b="true">
                <a:solidFill>
                  <a:srgbClr val="3B4E4E"/>
                </a:solidFill>
                <a:latin typeface="Arimo Bold"/>
                <a:ea typeface="Arimo Bold"/>
                <a:cs typeface="Arimo Bold"/>
                <a:sym typeface="Arimo Bold"/>
              </a:rPr>
              <a:t>Substring</a:t>
            </a:r>
          </a:p>
        </p:txBody>
      </p:sp>
      <p:sp>
        <p:nvSpPr>
          <p:cNvPr name="TextBox 26" id="26"/>
          <p:cNvSpPr txBox="true"/>
          <p:nvPr/>
        </p:nvSpPr>
        <p:spPr>
          <a:xfrm rot="0">
            <a:off x="1152592" y="5848731"/>
            <a:ext cx="2906487" cy="250612"/>
          </a:xfrm>
          <a:prstGeom prst="rect">
            <a:avLst/>
          </a:prstGeom>
        </p:spPr>
        <p:txBody>
          <a:bodyPr anchor="t" rtlCol="false" tIns="0" lIns="0" bIns="0" rIns="0">
            <a:spAutoFit/>
          </a:bodyPr>
          <a:lstStyle/>
          <a:p>
            <a:pPr algn="ctr">
              <a:lnSpc>
                <a:spcPts val="1987"/>
              </a:lnSpc>
            </a:pPr>
            <a:r>
              <a:rPr lang="en-US" sz="1800">
                <a:solidFill>
                  <a:srgbClr val="3B4E4E"/>
                </a:solidFill>
                <a:latin typeface="Overpass Light"/>
                <a:ea typeface="Overpass Light"/>
                <a:cs typeface="Overpass Light"/>
                <a:sym typeface="Overpass Light"/>
              </a:rPr>
              <a:t>Extract name parts</a:t>
            </a:r>
          </a:p>
        </p:txBody>
      </p:sp>
      <p:sp>
        <p:nvSpPr>
          <p:cNvPr name="TextBox 27" id="27"/>
          <p:cNvSpPr txBox="true"/>
          <p:nvPr/>
        </p:nvSpPr>
        <p:spPr>
          <a:xfrm rot="0">
            <a:off x="759771" y="9461154"/>
            <a:ext cx="10824867" cy="287236"/>
          </a:xfrm>
          <a:prstGeom prst="rect">
            <a:avLst/>
          </a:prstGeom>
        </p:spPr>
        <p:txBody>
          <a:bodyPr anchor="t" rtlCol="false" tIns="0" lIns="0" bIns="0" rIns="0">
            <a:spAutoFit/>
          </a:bodyPr>
          <a:lstStyle/>
          <a:p>
            <a:pPr algn="l">
              <a:lnSpc>
                <a:spcPts val="1982"/>
              </a:lnSpc>
            </a:pPr>
            <a:r>
              <a:rPr lang="en-US" sz="1399">
                <a:solidFill>
                  <a:srgbClr val="3B4E4E"/>
                </a:solidFill>
                <a:latin typeface="Overpass Light"/>
                <a:ea typeface="Overpass Light"/>
                <a:cs typeface="Overpass Light"/>
                <a:sym typeface="Overpass Light"/>
              </a:rPr>
              <a:t> Interaksi: pengguna memasukkan nama dan huruf pencarian → aplikasi memproses → menampilkan hasil di layar.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sp>
        <p:nvSpPr>
          <p:cNvPr name="TextBox 8" id="8"/>
          <p:cNvSpPr txBox="true"/>
          <p:nvPr/>
        </p:nvSpPr>
        <p:spPr>
          <a:xfrm rot="0">
            <a:off x="992238" y="988809"/>
            <a:ext cx="8920610" cy="658263"/>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Fungsi String yang Digunakan</a:t>
            </a:r>
          </a:p>
        </p:txBody>
      </p:sp>
      <p:grpSp>
        <p:nvGrpSpPr>
          <p:cNvPr name="Group 9" id="9"/>
          <p:cNvGrpSpPr/>
          <p:nvPr/>
        </p:nvGrpSpPr>
        <p:grpSpPr>
          <a:xfrm rot="0">
            <a:off x="992238" y="2143125"/>
            <a:ext cx="1114425" cy="1114425"/>
            <a:chOff x="0" y="0"/>
            <a:chExt cx="1485900" cy="1485900"/>
          </a:xfrm>
        </p:grpSpPr>
        <p:sp>
          <p:nvSpPr>
            <p:cNvPr name="Freeform 10" id="10" descr="preencoded.png"/>
            <p:cNvSpPr/>
            <p:nvPr/>
          </p:nvSpPr>
          <p:spPr>
            <a:xfrm flipH="false" flipV="false" rot="0">
              <a:off x="0" y="0"/>
              <a:ext cx="1485900" cy="1485900"/>
            </a:xfrm>
            <a:custGeom>
              <a:avLst/>
              <a:gdLst/>
              <a:ahLst/>
              <a:cxnLst/>
              <a:rect r="r" b="b" t="t" l="l"/>
              <a:pathLst>
                <a:path h="1485900" w="1485900">
                  <a:moveTo>
                    <a:pt x="0" y="0"/>
                  </a:moveTo>
                  <a:lnTo>
                    <a:pt x="1485900" y="0"/>
                  </a:lnTo>
                  <a:lnTo>
                    <a:pt x="1485900" y="1485900"/>
                  </a:lnTo>
                  <a:lnTo>
                    <a:pt x="0" y="1485900"/>
                  </a:lnTo>
                  <a:lnTo>
                    <a:pt x="0" y="0"/>
                  </a:lnTo>
                  <a:close/>
                </a:path>
              </a:pathLst>
            </a:custGeom>
            <a:blipFill>
              <a:blip r:embed="rId5"/>
              <a:stretch>
                <a:fillRect l="0" t="0" r="0" b="0"/>
              </a:stretch>
            </a:blipFill>
          </p:spPr>
        </p:sp>
      </p:grpSp>
      <p:sp>
        <p:nvSpPr>
          <p:cNvPr name="TextBox 11" id="11"/>
          <p:cNvSpPr txBox="true"/>
          <p:nvPr/>
        </p:nvSpPr>
        <p:spPr>
          <a:xfrm rot="0">
            <a:off x="2416673" y="2124075"/>
            <a:ext cx="3333302"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length()</a:t>
            </a:r>
          </a:p>
        </p:txBody>
      </p:sp>
      <p:sp>
        <p:nvSpPr>
          <p:cNvPr name="TextBox 12" id="12"/>
          <p:cNvSpPr txBox="true"/>
          <p:nvPr/>
        </p:nvSpPr>
        <p:spPr>
          <a:xfrm rot="0">
            <a:off x="2416673" y="2603449"/>
            <a:ext cx="2418902" cy="2457745"/>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Mengembalikan jumlah karakter pada String termasuk spasi internal (tetapi bukan spasi di awal/akhir jika belum di-trim).</a:t>
            </a:r>
          </a:p>
        </p:txBody>
      </p:sp>
      <p:grpSp>
        <p:nvGrpSpPr>
          <p:cNvPr name="Group 13" id="13"/>
          <p:cNvGrpSpPr/>
          <p:nvPr/>
        </p:nvGrpSpPr>
        <p:grpSpPr>
          <a:xfrm rot="0">
            <a:off x="5145586" y="2143125"/>
            <a:ext cx="1114425" cy="1114425"/>
            <a:chOff x="0" y="0"/>
            <a:chExt cx="1485900" cy="1485900"/>
          </a:xfrm>
        </p:grpSpPr>
        <p:sp>
          <p:nvSpPr>
            <p:cNvPr name="Freeform 14" id="14" descr="preencoded.png"/>
            <p:cNvSpPr/>
            <p:nvPr/>
          </p:nvSpPr>
          <p:spPr>
            <a:xfrm flipH="false" flipV="false" rot="0">
              <a:off x="0" y="0"/>
              <a:ext cx="1485900" cy="1485900"/>
            </a:xfrm>
            <a:custGeom>
              <a:avLst/>
              <a:gdLst/>
              <a:ahLst/>
              <a:cxnLst/>
              <a:rect r="r" b="b" t="t" l="l"/>
              <a:pathLst>
                <a:path h="1485900" w="1485900">
                  <a:moveTo>
                    <a:pt x="0" y="0"/>
                  </a:moveTo>
                  <a:lnTo>
                    <a:pt x="1485900" y="0"/>
                  </a:lnTo>
                  <a:lnTo>
                    <a:pt x="1485900" y="1485900"/>
                  </a:lnTo>
                  <a:lnTo>
                    <a:pt x="0" y="1485900"/>
                  </a:lnTo>
                  <a:lnTo>
                    <a:pt x="0" y="0"/>
                  </a:lnTo>
                  <a:close/>
                </a:path>
              </a:pathLst>
            </a:custGeom>
            <a:blipFill>
              <a:blip r:embed="rId6"/>
              <a:stretch>
                <a:fillRect l="0" t="0" r="0" b="0"/>
              </a:stretch>
            </a:blipFill>
          </p:spPr>
        </p:sp>
      </p:grpSp>
      <p:sp>
        <p:nvSpPr>
          <p:cNvPr name="TextBox 15" id="15"/>
          <p:cNvSpPr txBox="true"/>
          <p:nvPr/>
        </p:nvSpPr>
        <p:spPr>
          <a:xfrm rot="0">
            <a:off x="6570021" y="2124075"/>
            <a:ext cx="2418902" cy="794442"/>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toUpperCase()</a:t>
            </a:r>
          </a:p>
        </p:txBody>
      </p:sp>
      <p:sp>
        <p:nvSpPr>
          <p:cNvPr name="TextBox 16" id="16"/>
          <p:cNvSpPr txBox="true"/>
          <p:nvPr/>
        </p:nvSpPr>
        <p:spPr>
          <a:xfrm rot="0">
            <a:off x="6570021" y="2991145"/>
            <a:ext cx="2418902" cy="2457745"/>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Mengubah seluruh huruf menjadi kapital. Berguna untuk normalisasi teks sebelum perbandingan.</a:t>
            </a:r>
          </a:p>
        </p:txBody>
      </p:sp>
      <p:grpSp>
        <p:nvGrpSpPr>
          <p:cNvPr name="Group 17" id="17"/>
          <p:cNvGrpSpPr/>
          <p:nvPr/>
        </p:nvGrpSpPr>
        <p:grpSpPr>
          <a:xfrm rot="0">
            <a:off x="9298934" y="2143125"/>
            <a:ext cx="1114425" cy="1114425"/>
            <a:chOff x="0" y="0"/>
            <a:chExt cx="1485900" cy="1485900"/>
          </a:xfrm>
        </p:grpSpPr>
        <p:sp>
          <p:nvSpPr>
            <p:cNvPr name="Freeform 18" id="18" descr="preencoded.png"/>
            <p:cNvSpPr/>
            <p:nvPr/>
          </p:nvSpPr>
          <p:spPr>
            <a:xfrm flipH="false" flipV="false" rot="0">
              <a:off x="0" y="0"/>
              <a:ext cx="1485900" cy="1485900"/>
            </a:xfrm>
            <a:custGeom>
              <a:avLst/>
              <a:gdLst/>
              <a:ahLst/>
              <a:cxnLst/>
              <a:rect r="r" b="b" t="t" l="l"/>
              <a:pathLst>
                <a:path h="1485900" w="1485900">
                  <a:moveTo>
                    <a:pt x="0" y="0"/>
                  </a:moveTo>
                  <a:lnTo>
                    <a:pt x="1485900" y="0"/>
                  </a:lnTo>
                  <a:lnTo>
                    <a:pt x="1485900" y="1485900"/>
                  </a:lnTo>
                  <a:lnTo>
                    <a:pt x="0" y="1485900"/>
                  </a:lnTo>
                  <a:lnTo>
                    <a:pt x="0" y="0"/>
                  </a:lnTo>
                  <a:close/>
                </a:path>
              </a:pathLst>
            </a:custGeom>
            <a:blipFill>
              <a:blip r:embed="rId7"/>
              <a:stretch>
                <a:fillRect l="0" t="0" r="0" b="0"/>
              </a:stretch>
            </a:blipFill>
          </p:spPr>
        </p:sp>
      </p:grpSp>
      <p:sp>
        <p:nvSpPr>
          <p:cNvPr name="TextBox 19" id="19"/>
          <p:cNvSpPr txBox="true"/>
          <p:nvPr/>
        </p:nvSpPr>
        <p:spPr>
          <a:xfrm rot="0">
            <a:off x="10723359" y="2124075"/>
            <a:ext cx="2418902" cy="794442"/>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toLowerCase()</a:t>
            </a:r>
          </a:p>
        </p:txBody>
      </p:sp>
      <p:sp>
        <p:nvSpPr>
          <p:cNvPr name="TextBox 20" id="20"/>
          <p:cNvSpPr txBox="true"/>
          <p:nvPr/>
        </p:nvSpPr>
        <p:spPr>
          <a:xfrm rot="0">
            <a:off x="10723359" y="2991145"/>
            <a:ext cx="2418902" cy="2060819"/>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Mengubah seluruh huruf menjadi huruf kecil untuk pencocokan case-insensitive.</a:t>
            </a:r>
          </a:p>
        </p:txBody>
      </p:sp>
      <p:grpSp>
        <p:nvGrpSpPr>
          <p:cNvPr name="Group 21" id="21"/>
          <p:cNvGrpSpPr/>
          <p:nvPr/>
        </p:nvGrpSpPr>
        <p:grpSpPr>
          <a:xfrm rot="0">
            <a:off x="13452272" y="2143125"/>
            <a:ext cx="1114577" cy="1114577"/>
            <a:chOff x="0" y="0"/>
            <a:chExt cx="1486103" cy="1486103"/>
          </a:xfrm>
        </p:grpSpPr>
        <p:sp>
          <p:nvSpPr>
            <p:cNvPr name="Freeform 22" id="22" descr="preencoded.png"/>
            <p:cNvSpPr/>
            <p:nvPr/>
          </p:nvSpPr>
          <p:spPr>
            <a:xfrm flipH="false" flipV="false" rot="0">
              <a:off x="0" y="0"/>
              <a:ext cx="1486154" cy="1486154"/>
            </a:xfrm>
            <a:custGeom>
              <a:avLst/>
              <a:gdLst/>
              <a:ahLst/>
              <a:cxnLst/>
              <a:rect r="r" b="b" t="t" l="l"/>
              <a:pathLst>
                <a:path h="1486154" w="1486154">
                  <a:moveTo>
                    <a:pt x="0" y="0"/>
                  </a:moveTo>
                  <a:lnTo>
                    <a:pt x="1486154" y="0"/>
                  </a:lnTo>
                  <a:lnTo>
                    <a:pt x="1486154" y="1486154"/>
                  </a:lnTo>
                  <a:lnTo>
                    <a:pt x="0" y="1486154"/>
                  </a:lnTo>
                  <a:lnTo>
                    <a:pt x="0" y="0"/>
                  </a:lnTo>
                  <a:close/>
                </a:path>
              </a:pathLst>
            </a:custGeom>
            <a:blipFill>
              <a:blip r:embed="rId8"/>
              <a:stretch>
                <a:fillRect l="0" t="0" r="3" b="3"/>
              </a:stretch>
            </a:blipFill>
          </p:spPr>
        </p:sp>
      </p:grpSp>
      <p:sp>
        <p:nvSpPr>
          <p:cNvPr name="TextBox 23" id="23"/>
          <p:cNvSpPr txBox="true"/>
          <p:nvPr/>
        </p:nvSpPr>
        <p:spPr>
          <a:xfrm rot="0">
            <a:off x="14876859" y="2124075"/>
            <a:ext cx="3333302"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trim()</a:t>
            </a:r>
          </a:p>
        </p:txBody>
      </p:sp>
      <p:sp>
        <p:nvSpPr>
          <p:cNvPr name="TextBox 24" id="24"/>
          <p:cNvSpPr txBox="true"/>
          <p:nvPr/>
        </p:nvSpPr>
        <p:spPr>
          <a:xfrm rot="0">
            <a:off x="14876859" y="2603449"/>
            <a:ext cx="2418902" cy="2060819"/>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Menghapus spasi di awal dan akhir string—penting untuk membersihkan input pengguna.</a:t>
            </a:r>
          </a:p>
        </p:txBody>
      </p:sp>
      <p:grpSp>
        <p:nvGrpSpPr>
          <p:cNvPr name="Group 25" id="25"/>
          <p:cNvGrpSpPr/>
          <p:nvPr/>
        </p:nvGrpSpPr>
        <p:grpSpPr>
          <a:xfrm rot="0">
            <a:off x="992238" y="5944943"/>
            <a:ext cx="1114425" cy="1114425"/>
            <a:chOff x="0" y="0"/>
            <a:chExt cx="1485900" cy="1485900"/>
          </a:xfrm>
        </p:grpSpPr>
        <p:sp>
          <p:nvSpPr>
            <p:cNvPr name="Freeform 26" id="26" descr="preencoded.png"/>
            <p:cNvSpPr/>
            <p:nvPr/>
          </p:nvSpPr>
          <p:spPr>
            <a:xfrm flipH="false" flipV="false" rot="0">
              <a:off x="0" y="0"/>
              <a:ext cx="1485900" cy="1485900"/>
            </a:xfrm>
            <a:custGeom>
              <a:avLst/>
              <a:gdLst/>
              <a:ahLst/>
              <a:cxnLst/>
              <a:rect r="r" b="b" t="t" l="l"/>
              <a:pathLst>
                <a:path h="1485900" w="1485900">
                  <a:moveTo>
                    <a:pt x="0" y="0"/>
                  </a:moveTo>
                  <a:lnTo>
                    <a:pt x="1485900" y="0"/>
                  </a:lnTo>
                  <a:lnTo>
                    <a:pt x="1485900" y="1485900"/>
                  </a:lnTo>
                  <a:lnTo>
                    <a:pt x="0" y="1485900"/>
                  </a:lnTo>
                  <a:lnTo>
                    <a:pt x="0" y="0"/>
                  </a:lnTo>
                  <a:close/>
                </a:path>
              </a:pathLst>
            </a:custGeom>
            <a:blipFill>
              <a:blip r:embed="rId9"/>
              <a:stretch>
                <a:fillRect l="0" t="0" r="0" b="0"/>
              </a:stretch>
            </a:blipFill>
          </p:spPr>
        </p:sp>
      </p:grpSp>
      <p:sp>
        <p:nvSpPr>
          <p:cNvPr name="TextBox 27" id="27"/>
          <p:cNvSpPr txBox="true"/>
          <p:nvPr/>
        </p:nvSpPr>
        <p:spPr>
          <a:xfrm rot="0">
            <a:off x="2416673" y="5925893"/>
            <a:ext cx="3333302"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substring()</a:t>
            </a:r>
          </a:p>
        </p:txBody>
      </p:sp>
      <p:sp>
        <p:nvSpPr>
          <p:cNvPr name="TextBox 28" id="28"/>
          <p:cNvSpPr txBox="true"/>
          <p:nvPr/>
        </p:nvSpPr>
        <p:spPr>
          <a:xfrm rot="0">
            <a:off x="2416673" y="6405267"/>
            <a:ext cx="2418902" cy="2854671"/>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Mengekstrak bagian teks berdasarkan indeks awal (dan opsional akhir). Berguna untuk mengambil potongan nama.</a:t>
            </a:r>
          </a:p>
        </p:txBody>
      </p:sp>
      <p:grpSp>
        <p:nvGrpSpPr>
          <p:cNvPr name="Group 29" id="29"/>
          <p:cNvGrpSpPr/>
          <p:nvPr/>
        </p:nvGrpSpPr>
        <p:grpSpPr>
          <a:xfrm rot="0">
            <a:off x="5145586" y="5944943"/>
            <a:ext cx="1114425" cy="1114425"/>
            <a:chOff x="0" y="0"/>
            <a:chExt cx="1485900" cy="1485900"/>
          </a:xfrm>
        </p:grpSpPr>
        <p:sp>
          <p:nvSpPr>
            <p:cNvPr name="Freeform 30" id="30" descr="preencoded.png"/>
            <p:cNvSpPr/>
            <p:nvPr/>
          </p:nvSpPr>
          <p:spPr>
            <a:xfrm flipH="false" flipV="false" rot="0">
              <a:off x="0" y="0"/>
              <a:ext cx="1485900" cy="1485900"/>
            </a:xfrm>
            <a:custGeom>
              <a:avLst/>
              <a:gdLst/>
              <a:ahLst/>
              <a:cxnLst/>
              <a:rect r="r" b="b" t="t" l="l"/>
              <a:pathLst>
                <a:path h="1485900" w="1485900">
                  <a:moveTo>
                    <a:pt x="0" y="0"/>
                  </a:moveTo>
                  <a:lnTo>
                    <a:pt x="1485900" y="0"/>
                  </a:lnTo>
                  <a:lnTo>
                    <a:pt x="1485900" y="1485900"/>
                  </a:lnTo>
                  <a:lnTo>
                    <a:pt x="0" y="1485900"/>
                  </a:lnTo>
                  <a:lnTo>
                    <a:pt x="0" y="0"/>
                  </a:lnTo>
                  <a:close/>
                </a:path>
              </a:pathLst>
            </a:custGeom>
            <a:blipFill>
              <a:blip r:embed="rId10"/>
              <a:stretch>
                <a:fillRect l="0" t="0" r="0" b="0"/>
              </a:stretch>
            </a:blipFill>
          </p:spPr>
        </p:sp>
      </p:grpSp>
      <p:sp>
        <p:nvSpPr>
          <p:cNvPr name="TextBox 31" id="31"/>
          <p:cNvSpPr txBox="true"/>
          <p:nvPr/>
        </p:nvSpPr>
        <p:spPr>
          <a:xfrm rot="0">
            <a:off x="6570021" y="5925893"/>
            <a:ext cx="3333302"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indexOf()</a:t>
            </a:r>
          </a:p>
        </p:txBody>
      </p:sp>
      <p:sp>
        <p:nvSpPr>
          <p:cNvPr name="TextBox 32" id="32"/>
          <p:cNvSpPr txBox="true"/>
          <p:nvPr/>
        </p:nvSpPr>
        <p:spPr>
          <a:xfrm rot="0">
            <a:off x="6570021" y="6405267"/>
            <a:ext cx="2418902" cy="2457745"/>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Mencari posisi karakter atau substring pertama kali muncul; mengembalikan -1 jika tidak ditemukan.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3716000" y="0"/>
            <a:ext cx="4572000" cy="10287000"/>
            <a:chOff x="0" y="0"/>
            <a:chExt cx="6096000" cy="13716000"/>
          </a:xfrm>
        </p:grpSpPr>
        <p:sp>
          <p:nvSpPr>
            <p:cNvPr name="Freeform 9" id="9" descr="preencoded.png"/>
            <p:cNvSpPr/>
            <p:nvPr/>
          </p:nvSpPr>
          <p:spPr>
            <a:xfrm flipH="false" flipV="false" rot="0">
              <a:off x="0" y="0"/>
              <a:ext cx="6096000" cy="13716000"/>
            </a:xfrm>
            <a:custGeom>
              <a:avLst/>
              <a:gdLst/>
              <a:ahLst/>
              <a:cxnLst/>
              <a:rect r="r" b="b" t="t" l="l"/>
              <a:pathLst>
                <a:path h="13716000" w="6096000">
                  <a:moveTo>
                    <a:pt x="0" y="0"/>
                  </a:moveTo>
                  <a:lnTo>
                    <a:pt x="6096000" y="0"/>
                  </a:lnTo>
                  <a:lnTo>
                    <a:pt x="6096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13839977" y="215798"/>
            <a:ext cx="4323902" cy="9855251"/>
            <a:chOff x="0" y="0"/>
            <a:chExt cx="5765203" cy="13140334"/>
          </a:xfrm>
        </p:grpSpPr>
        <p:sp>
          <p:nvSpPr>
            <p:cNvPr name="Freeform 11" id="11" descr="preencoded.png"/>
            <p:cNvSpPr/>
            <p:nvPr/>
          </p:nvSpPr>
          <p:spPr>
            <a:xfrm flipH="false" flipV="false" rot="0">
              <a:off x="0" y="0"/>
              <a:ext cx="5765165" cy="13140310"/>
            </a:xfrm>
            <a:custGeom>
              <a:avLst/>
              <a:gdLst/>
              <a:ahLst/>
              <a:cxnLst/>
              <a:rect r="r" b="b" t="t" l="l"/>
              <a:pathLst>
                <a:path h="13140310" w="5765165">
                  <a:moveTo>
                    <a:pt x="0" y="0"/>
                  </a:moveTo>
                  <a:lnTo>
                    <a:pt x="5765165" y="0"/>
                  </a:lnTo>
                  <a:lnTo>
                    <a:pt x="5765165" y="13140310"/>
                  </a:lnTo>
                  <a:lnTo>
                    <a:pt x="0" y="13140310"/>
                  </a:lnTo>
                  <a:lnTo>
                    <a:pt x="0" y="0"/>
                  </a:lnTo>
                  <a:close/>
                </a:path>
              </a:pathLst>
            </a:custGeom>
            <a:blipFill>
              <a:blip r:embed="rId6"/>
              <a:stretch>
                <a:fillRect l="0" t="-46" r="0" b="-47"/>
              </a:stretch>
            </a:blipFill>
          </p:spPr>
        </p:sp>
      </p:grpSp>
      <p:sp>
        <p:nvSpPr>
          <p:cNvPr name="TextBox 12" id="12"/>
          <p:cNvSpPr txBox="true"/>
          <p:nvPr/>
        </p:nvSpPr>
        <p:spPr>
          <a:xfrm rot="0">
            <a:off x="992238" y="1685334"/>
            <a:ext cx="6231579" cy="658263"/>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Penjelasan: length()</a:t>
            </a:r>
          </a:p>
        </p:txBody>
      </p:sp>
      <p:sp>
        <p:nvSpPr>
          <p:cNvPr name="TextBox 13" id="13"/>
          <p:cNvSpPr txBox="true"/>
          <p:nvPr/>
        </p:nvSpPr>
        <p:spPr>
          <a:xfrm rot="0">
            <a:off x="992238" y="2639463"/>
            <a:ext cx="11731523" cy="1266977"/>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length() mengembalikan jumlah karakter dalam sebuah String. Ini termasuk spasi internal, tanda baca, dan karakter Unicode.     Praktik baik: gunakan trim() sebelum length() jika ingin mengabaikan spasi di awal/akhir.   </a:t>
            </a:r>
          </a:p>
        </p:txBody>
      </p:sp>
      <p:grpSp>
        <p:nvGrpSpPr>
          <p:cNvPr name="Group 14" id="14"/>
          <p:cNvGrpSpPr/>
          <p:nvPr/>
        </p:nvGrpSpPr>
        <p:grpSpPr>
          <a:xfrm rot="0">
            <a:off x="987476" y="4180732"/>
            <a:ext cx="11741048" cy="4387453"/>
            <a:chOff x="0" y="0"/>
            <a:chExt cx="15654731" cy="5849938"/>
          </a:xfrm>
        </p:grpSpPr>
        <p:sp>
          <p:nvSpPr>
            <p:cNvPr name="Freeform 15" id="15"/>
            <p:cNvSpPr/>
            <p:nvPr/>
          </p:nvSpPr>
          <p:spPr>
            <a:xfrm flipH="false" flipV="false" rot="0">
              <a:off x="6350" y="6350"/>
              <a:ext cx="15641954" cy="5837301"/>
            </a:xfrm>
            <a:custGeom>
              <a:avLst/>
              <a:gdLst/>
              <a:ahLst/>
              <a:cxnLst/>
              <a:rect r="r" b="b" t="t" l="l"/>
              <a:pathLst>
                <a:path h="5837301" w="15641954">
                  <a:moveTo>
                    <a:pt x="0" y="138938"/>
                  </a:moveTo>
                  <a:cubicBezTo>
                    <a:pt x="0" y="62230"/>
                    <a:pt x="62230" y="0"/>
                    <a:pt x="139065" y="0"/>
                  </a:cubicBezTo>
                  <a:lnTo>
                    <a:pt x="15502889" y="0"/>
                  </a:lnTo>
                  <a:cubicBezTo>
                    <a:pt x="15579725" y="0"/>
                    <a:pt x="15641954" y="62230"/>
                    <a:pt x="15641954" y="138938"/>
                  </a:cubicBezTo>
                  <a:lnTo>
                    <a:pt x="15641954" y="5698363"/>
                  </a:lnTo>
                  <a:cubicBezTo>
                    <a:pt x="15641954" y="5775071"/>
                    <a:pt x="15579725" y="5837301"/>
                    <a:pt x="15502889" y="5837301"/>
                  </a:cubicBezTo>
                  <a:lnTo>
                    <a:pt x="139065" y="5837301"/>
                  </a:lnTo>
                  <a:cubicBezTo>
                    <a:pt x="62230" y="5837301"/>
                    <a:pt x="0" y="5775071"/>
                    <a:pt x="0" y="5698363"/>
                  </a:cubicBezTo>
                  <a:close/>
                </a:path>
              </a:pathLst>
            </a:custGeom>
            <a:solidFill>
              <a:srgbClr val="DDEEE6"/>
            </a:solidFill>
          </p:spPr>
        </p:sp>
        <p:sp>
          <p:nvSpPr>
            <p:cNvPr name="Freeform 16" id="16"/>
            <p:cNvSpPr/>
            <p:nvPr/>
          </p:nvSpPr>
          <p:spPr>
            <a:xfrm flipH="false" flipV="false" rot="0">
              <a:off x="0" y="0"/>
              <a:ext cx="15654654" cy="5850001"/>
            </a:xfrm>
            <a:custGeom>
              <a:avLst/>
              <a:gdLst/>
              <a:ahLst/>
              <a:cxnLst/>
              <a:rect r="r" b="b" t="t" l="l"/>
              <a:pathLst>
                <a:path h="5850001" w="15654654">
                  <a:moveTo>
                    <a:pt x="0" y="145288"/>
                  </a:moveTo>
                  <a:cubicBezTo>
                    <a:pt x="0" y="65024"/>
                    <a:pt x="65151" y="0"/>
                    <a:pt x="145415" y="0"/>
                  </a:cubicBezTo>
                  <a:lnTo>
                    <a:pt x="15509239" y="0"/>
                  </a:lnTo>
                  <a:lnTo>
                    <a:pt x="15509239" y="6350"/>
                  </a:lnTo>
                  <a:lnTo>
                    <a:pt x="15509239" y="0"/>
                  </a:lnTo>
                  <a:cubicBezTo>
                    <a:pt x="15589630" y="0"/>
                    <a:pt x="15654654" y="65024"/>
                    <a:pt x="15654654" y="145288"/>
                  </a:cubicBezTo>
                  <a:lnTo>
                    <a:pt x="15648304" y="145288"/>
                  </a:lnTo>
                  <a:lnTo>
                    <a:pt x="15654654" y="145288"/>
                  </a:lnTo>
                  <a:lnTo>
                    <a:pt x="15654654" y="5704713"/>
                  </a:lnTo>
                  <a:lnTo>
                    <a:pt x="15648304" y="5704713"/>
                  </a:lnTo>
                  <a:lnTo>
                    <a:pt x="15654654" y="5704713"/>
                  </a:lnTo>
                  <a:cubicBezTo>
                    <a:pt x="15654654" y="5784977"/>
                    <a:pt x="15589504" y="5850001"/>
                    <a:pt x="15509239" y="5850001"/>
                  </a:cubicBezTo>
                  <a:lnTo>
                    <a:pt x="15509239" y="5843651"/>
                  </a:lnTo>
                  <a:lnTo>
                    <a:pt x="15509239" y="5850001"/>
                  </a:lnTo>
                  <a:lnTo>
                    <a:pt x="145415" y="5850001"/>
                  </a:lnTo>
                  <a:lnTo>
                    <a:pt x="145415" y="5843651"/>
                  </a:lnTo>
                  <a:lnTo>
                    <a:pt x="145415" y="5850001"/>
                  </a:lnTo>
                  <a:cubicBezTo>
                    <a:pt x="65151" y="5850001"/>
                    <a:pt x="0" y="5784850"/>
                    <a:pt x="0" y="5704713"/>
                  </a:cubicBezTo>
                  <a:lnTo>
                    <a:pt x="0" y="145288"/>
                  </a:lnTo>
                  <a:lnTo>
                    <a:pt x="6350" y="145288"/>
                  </a:lnTo>
                  <a:lnTo>
                    <a:pt x="0" y="145288"/>
                  </a:lnTo>
                  <a:moveTo>
                    <a:pt x="12700" y="145288"/>
                  </a:moveTo>
                  <a:lnTo>
                    <a:pt x="12700" y="5704713"/>
                  </a:lnTo>
                  <a:lnTo>
                    <a:pt x="6350" y="5704713"/>
                  </a:lnTo>
                  <a:lnTo>
                    <a:pt x="12700" y="5704713"/>
                  </a:lnTo>
                  <a:cubicBezTo>
                    <a:pt x="12700" y="5777865"/>
                    <a:pt x="72136" y="5837301"/>
                    <a:pt x="145415" y="5837301"/>
                  </a:cubicBezTo>
                  <a:lnTo>
                    <a:pt x="15509239" y="5837301"/>
                  </a:lnTo>
                  <a:cubicBezTo>
                    <a:pt x="15582519" y="5837301"/>
                    <a:pt x="15641954" y="5777992"/>
                    <a:pt x="15641954" y="5704713"/>
                  </a:cubicBezTo>
                  <a:lnTo>
                    <a:pt x="15641954" y="145288"/>
                  </a:lnTo>
                  <a:cubicBezTo>
                    <a:pt x="15641954" y="72136"/>
                    <a:pt x="15582519" y="12700"/>
                    <a:pt x="15509239" y="12700"/>
                  </a:cubicBezTo>
                  <a:lnTo>
                    <a:pt x="145415" y="12700"/>
                  </a:lnTo>
                  <a:lnTo>
                    <a:pt x="145415" y="6350"/>
                  </a:lnTo>
                  <a:lnTo>
                    <a:pt x="145415" y="12700"/>
                  </a:lnTo>
                  <a:cubicBezTo>
                    <a:pt x="72136" y="12700"/>
                    <a:pt x="12700" y="72009"/>
                    <a:pt x="12700" y="145288"/>
                  </a:cubicBezTo>
                  <a:close/>
                </a:path>
              </a:pathLst>
            </a:custGeom>
            <a:solidFill>
              <a:srgbClr val="C3D4CC"/>
            </a:solidFill>
          </p:spPr>
        </p:sp>
      </p:grpSp>
      <p:sp>
        <p:nvSpPr>
          <p:cNvPr name="TextBox 17" id="17"/>
          <p:cNvSpPr txBox="true"/>
          <p:nvPr/>
        </p:nvSpPr>
        <p:spPr>
          <a:xfrm rot="0">
            <a:off x="1249709" y="4423915"/>
            <a:ext cx="4015530"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Penggunaan</a:t>
            </a:r>
          </a:p>
        </p:txBody>
      </p:sp>
      <p:grpSp>
        <p:nvGrpSpPr>
          <p:cNvPr name="Group 18" id="18"/>
          <p:cNvGrpSpPr/>
          <p:nvPr/>
        </p:nvGrpSpPr>
        <p:grpSpPr>
          <a:xfrm rot="0">
            <a:off x="1249709" y="5109715"/>
            <a:ext cx="11215240" cy="2520258"/>
            <a:chOff x="0" y="0"/>
            <a:chExt cx="14953653" cy="3360344"/>
          </a:xfrm>
        </p:grpSpPr>
        <p:sp>
          <p:nvSpPr>
            <p:cNvPr name="Freeform 19" id="19" descr="preencoded.png"/>
            <p:cNvSpPr/>
            <p:nvPr/>
          </p:nvSpPr>
          <p:spPr>
            <a:xfrm flipH="false" flipV="false" rot="0">
              <a:off x="0" y="0"/>
              <a:ext cx="14953614" cy="3360293"/>
            </a:xfrm>
            <a:custGeom>
              <a:avLst/>
              <a:gdLst/>
              <a:ahLst/>
              <a:cxnLst/>
              <a:rect r="r" b="b" t="t" l="l"/>
              <a:pathLst>
                <a:path h="3360293" w="14953614">
                  <a:moveTo>
                    <a:pt x="0" y="0"/>
                  </a:moveTo>
                  <a:lnTo>
                    <a:pt x="14953614" y="0"/>
                  </a:lnTo>
                  <a:lnTo>
                    <a:pt x="14953614" y="3360293"/>
                  </a:lnTo>
                  <a:lnTo>
                    <a:pt x="0" y="3360293"/>
                  </a:lnTo>
                  <a:lnTo>
                    <a:pt x="0" y="0"/>
                  </a:lnTo>
                  <a:close/>
                </a:path>
              </a:pathLst>
            </a:custGeom>
            <a:blipFill>
              <a:blip r:embed="rId7"/>
              <a:stretch>
                <a:fillRect l="0" t="-95" r="0" b="-97"/>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3716000" y="0"/>
            <a:ext cx="4572000" cy="10287000"/>
            <a:chOff x="0" y="0"/>
            <a:chExt cx="6096000" cy="13716000"/>
          </a:xfrm>
        </p:grpSpPr>
        <p:sp>
          <p:nvSpPr>
            <p:cNvPr name="Freeform 9" id="9" descr="preencoded.png"/>
            <p:cNvSpPr/>
            <p:nvPr/>
          </p:nvSpPr>
          <p:spPr>
            <a:xfrm flipH="false" flipV="false" rot="0">
              <a:off x="0" y="0"/>
              <a:ext cx="6096000" cy="13716000"/>
            </a:xfrm>
            <a:custGeom>
              <a:avLst/>
              <a:gdLst/>
              <a:ahLst/>
              <a:cxnLst/>
              <a:rect r="r" b="b" t="t" l="l"/>
              <a:pathLst>
                <a:path h="13716000" w="6096000">
                  <a:moveTo>
                    <a:pt x="0" y="0"/>
                  </a:moveTo>
                  <a:lnTo>
                    <a:pt x="6096000" y="0"/>
                  </a:lnTo>
                  <a:lnTo>
                    <a:pt x="6096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13839977" y="215798"/>
            <a:ext cx="4323902" cy="9855251"/>
            <a:chOff x="0" y="0"/>
            <a:chExt cx="5765203" cy="13140334"/>
          </a:xfrm>
        </p:grpSpPr>
        <p:sp>
          <p:nvSpPr>
            <p:cNvPr name="Freeform 11" id="11" descr="preencoded.png"/>
            <p:cNvSpPr/>
            <p:nvPr/>
          </p:nvSpPr>
          <p:spPr>
            <a:xfrm flipH="false" flipV="false" rot="0">
              <a:off x="0" y="0"/>
              <a:ext cx="5765165" cy="13140310"/>
            </a:xfrm>
            <a:custGeom>
              <a:avLst/>
              <a:gdLst/>
              <a:ahLst/>
              <a:cxnLst/>
              <a:rect r="r" b="b" t="t" l="l"/>
              <a:pathLst>
                <a:path h="13140310" w="5765165">
                  <a:moveTo>
                    <a:pt x="0" y="0"/>
                  </a:moveTo>
                  <a:lnTo>
                    <a:pt x="5765165" y="0"/>
                  </a:lnTo>
                  <a:lnTo>
                    <a:pt x="5765165" y="13140310"/>
                  </a:lnTo>
                  <a:lnTo>
                    <a:pt x="0" y="13140310"/>
                  </a:lnTo>
                  <a:lnTo>
                    <a:pt x="0" y="0"/>
                  </a:lnTo>
                  <a:close/>
                </a:path>
              </a:pathLst>
            </a:custGeom>
            <a:blipFill>
              <a:blip r:embed="rId6"/>
              <a:stretch>
                <a:fillRect l="0" t="-46" r="0" b="-47"/>
              </a:stretch>
            </a:blipFill>
          </p:spPr>
        </p:sp>
      </p:grpSp>
      <p:sp>
        <p:nvSpPr>
          <p:cNvPr name="TextBox 12" id="12"/>
          <p:cNvSpPr txBox="true"/>
          <p:nvPr/>
        </p:nvSpPr>
        <p:spPr>
          <a:xfrm rot="0">
            <a:off x="992238" y="1822847"/>
            <a:ext cx="8185995" cy="658263"/>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Penjelasan: toUpperCase()</a:t>
            </a:r>
          </a:p>
        </p:txBody>
      </p:sp>
      <p:sp>
        <p:nvSpPr>
          <p:cNvPr name="TextBox 13" id="13"/>
          <p:cNvSpPr txBox="true"/>
          <p:nvPr/>
        </p:nvSpPr>
        <p:spPr>
          <a:xfrm rot="0">
            <a:off x="992238" y="2776985"/>
            <a:ext cx="11731523" cy="1266977"/>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toUpperCase() mengembalikan salinan string dengan semua huruf diubah menjadi kapital sesuai aturan locale default.     Berguna untuk normalisasi dan penampilan (mis. menampilkan nama lengkap dalam huruf kapital).   </a:t>
            </a:r>
          </a:p>
        </p:txBody>
      </p:sp>
      <p:grpSp>
        <p:nvGrpSpPr>
          <p:cNvPr name="Group 14" id="14"/>
          <p:cNvGrpSpPr/>
          <p:nvPr/>
        </p:nvGrpSpPr>
        <p:grpSpPr>
          <a:xfrm rot="0">
            <a:off x="977951" y="4308719"/>
            <a:ext cx="11760098" cy="4131469"/>
            <a:chOff x="0" y="0"/>
            <a:chExt cx="15680131" cy="5508625"/>
          </a:xfrm>
        </p:grpSpPr>
        <p:sp>
          <p:nvSpPr>
            <p:cNvPr name="Freeform 15" id="15"/>
            <p:cNvSpPr/>
            <p:nvPr/>
          </p:nvSpPr>
          <p:spPr>
            <a:xfrm flipH="false" flipV="false" rot="0">
              <a:off x="19050" y="19050"/>
              <a:ext cx="15642081" cy="5470525"/>
            </a:xfrm>
            <a:custGeom>
              <a:avLst/>
              <a:gdLst/>
              <a:ahLst/>
              <a:cxnLst/>
              <a:rect r="r" b="b" t="t" l="l"/>
              <a:pathLst>
                <a:path h="5470525" w="15642081">
                  <a:moveTo>
                    <a:pt x="0" y="182880"/>
                  </a:moveTo>
                  <a:cubicBezTo>
                    <a:pt x="0" y="81915"/>
                    <a:pt x="82296" y="0"/>
                    <a:pt x="183769" y="0"/>
                  </a:cubicBezTo>
                  <a:lnTo>
                    <a:pt x="15458312" y="0"/>
                  </a:lnTo>
                  <a:cubicBezTo>
                    <a:pt x="15559785" y="0"/>
                    <a:pt x="15642081" y="81915"/>
                    <a:pt x="15642081" y="182880"/>
                  </a:cubicBezTo>
                  <a:lnTo>
                    <a:pt x="15642081" y="5287645"/>
                  </a:lnTo>
                  <a:cubicBezTo>
                    <a:pt x="15642081" y="5388610"/>
                    <a:pt x="15559785" y="5470525"/>
                    <a:pt x="15458312" y="5470525"/>
                  </a:cubicBezTo>
                  <a:lnTo>
                    <a:pt x="183769" y="5470525"/>
                  </a:lnTo>
                  <a:cubicBezTo>
                    <a:pt x="82296" y="5470525"/>
                    <a:pt x="0" y="5388610"/>
                    <a:pt x="0" y="5287645"/>
                  </a:cubicBezTo>
                  <a:close/>
                </a:path>
              </a:pathLst>
            </a:custGeom>
            <a:solidFill>
              <a:srgbClr val="FFFDE6"/>
            </a:solidFill>
          </p:spPr>
        </p:sp>
        <p:sp>
          <p:nvSpPr>
            <p:cNvPr name="Freeform 16" id="16"/>
            <p:cNvSpPr/>
            <p:nvPr/>
          </p:nvSpPr>
          <p:spPr>
            <a:xfrm flipH="false" flipV="false" rot="0">
              <a:off x="0" y="0"/>
              <a:ext cx="15680181" cy="5508625"/>
            </a:xfrm>
            <a:custGeom>
              <a:avLst/>
              <a:gdLst/>
              <a:ahLst/>
              <a:cxnLst/>
              <a:rect r="r" b="b" t="t" l="l"/>
              <a:pathLst>
                <a:path h="5508625" w="15680181">
                  <a:moveTo>
                    <a:pt x="0" y="201930"/>
                  </a:moveTo>
                  <a:cubicBezTo>
                    <a:pt x="0" y="90297"/>
                    <a:pt x="90805" y="0"/>
                    <a:pt x="202819" y="0"/>
                  </a:cubicBezTo>
                  <a:lnTo>
                    <a:pt x="15477362" y="0"/>
                  </a:lnTo>
                  <a:lnTo>
                    <a:pt x="15477362" y="19050"/>
                  </a:lnTo>
                  <a:lnTo>
                    <a:pt x="15477362" y="0"/>
                  </a:lnTo>
                  <a:cubicBezTo>
                    <a:pt x="15589250" y="0"/>
                    <a:pt x="15680181" y="90297"/>
                    <a:pt x="15680181" y="201930"/>
                  </a:cubicBezTo>
                  <a:lnTo>
                    <a:pt x="15661131" y="201930"/>
                  </a:lnTo>
                  <a:lnTo>
                    <a:pt x="15680181" y="201930"/>
                  </a:lnTo>
                  <a:lnTo>
                    <a:pt x="15680181" y="5306695"/>
                  </a:lnTo>
                  <a:lnTo>
                    <a:pt x="15661131" y="5306695"/>
                  </a:lnTo>
                  <a:lnTo>
                    <a:pt x="15680181" y="5306695"/>
                  </a:lnTo>
                  <a:cubicBezTo>
                    <a:pt x="15680181" y="5418328"/>
                    <a:pt x="15589377" y="5508625"/>
                    <a:pt x="15477362" y="5508625"/>
                  </a:cubicBezTo>
                  <a:lnTo>
                    <a:pt x="15477362" y="5489575"/>
                  </a:lnTo>
                  <a:lnTo>
                    <a:pt x="15477362" y="5508625"/>
                  </a:lnTo>
                  <a:lnTo>
                    <a:pt x="202819" y="5508625"/>
                  </a:lnTo>
                  <a:lnTo>
                    <a:pt x="202819" y="5489575"/>
                  </a:lnTo>
                  <a:lnTo>
                    <a:pt x="202819" y="5508625"/>
                  </a:lnTo>
                  <a:cubicBezTo>
                    <a:pt x="90805" y="5508625"/>
                    <a:pt x="0" y="5418328"/>
                    <a:pt x="0" y="5306695"/>
                  </a:cubicBezTo>
                  <a:lnTo>
                    <a:pt x="0" y="201930"/>
                  </a:lnTo>
                  <a:lnTo>
                    <a:pt x="19050" y="201930"/>
                  </a:lnTo>
                  <a:lnTo>
                    <a:pt x="0" y="201930"/>
                  </a:lnTo>
                  <a:moveTo>
                    <a:pt x="38100" y="201930"/>
                  </a:moveTo>
                  <a:lnTo>
                    <a:pt x="38100" y="5306695"/>
                  </a:lnTo>
                  <a:lnTo>
                    <a:pt x="19050" y="5306695"/>
                  </a:lnTo>
                  <a:lnTo>
                    <a:pt x="38100" y="5306695"/>
                  </a:lnTo>
                  <a:cubicBezTo>
                    <a:pt x="38100" y="5397119"/>
                    <a:pt x="111760" y="5470525"/>
                    <a:pt x="202692" y="5470525"/>
                  </a:cubicBezTo>
                  <a:lnTo>
                    <a:pt x="15477362" y="5470525"/>
                  </a:lnTo>
                  <a:cubicBezTo>
                    <a:pt x="15568422" y="5470525"/>
                    <a:pt x="15641954" y="5397119"/>
                    <a:pt x="15641954" y="5306695"/>
                  </a:cubicBezTo>
                  <a:lnTo>
                    <a:pt x="15641954" y="201930"/>
                  </a:lnTo>
                  <a:cubicBezTo>
                    <a:pt x="15641954" y="111506"/>
                    <a:pt x="15568295" y="38100"/>
                    <a:pt x="15477362" y="38100"/>
                  </a:cubicBezTo>
                  <a:lnTo>
                    <a:pt x="202819" y="38100"/>
                  </a:lnTo>
                  <a:lnTo>
                    <a:pt x="202819" y="19050"/>
                  </a:lnTo>
                  <a:lnTo>
                    <a:pt x="202819" y="38100"/>
                  </a:lnTo>
                  <a:cubicBezTo>
                    <a:pt x="111760" y="38100"/>
                    <a:pt x="38100" y="111506"/>
                    <a:pt x="38100" y="201930"/>
                  </a:cubicBezTo>
                  <a:close/>
                </a:path>
              </a:pathLst>
            </a:custGeom>
            <a:solidFill>
              <a:srgbClr val="C3D4CC"/>
            </a:solidFill>
          </p:spPr>
        </p:sp>
      </p:grpSp>
      <p:grpSp>
        <p:nvGrpSpPr>
          <p:cNvPr name="Group 17" id="17"/>
          <p:cNvGrpSpPr/>
          <p:nvPr/>
        </p:nvGrpSpPr>
        <p:grpSpPr>
          <a:xfrm rot="0">
            <a:off x="963663" y="4323007"/>
            <a:ext cx="114300" cy="4102894"/>
            <a:chOff x="0" y="0"/>
            <a:chExt cx="152400" cy="5470525"/>
          </a:xfrm>
        </p:grpSpPr>
        <p:sp>
          <p:nvSpPr>
            <p:cNvPr name="Freeform 18" id="18"/>
            <p:cNvSpPr/>
            <p:nvPr/>
          </p:nvSpPr>
          <p:spPr>
            <a:xfrm flipH="false" flipV="false" rot="0">
              <a:off x="0" y="0"/>
              <a:ext cx="152400" cy="5470525"/>
            </a:xfrm>
            <a:custGeom>
              <a:avLst/>
              <a:gdLst/>
              <a:ahLst/>
              <a:cxnLst/>
              <a:rect r="r" b="b" t="t" l="l"/>
              <a:pathLst>
                <a:path h="5470525" w="152400">
                  <a:moveTo>
                    <a:pt x="0" y="76200"/>
                  </a:moveTo>
                  <a:cubicBezTo>
                    <a:pt x="0" y="34163"/>
                    <a:pt x="34163" y="0"/>
                    <a:pt x="76200" y="0"/>
                  </a:cubicBezTo>
                  <a:cubicBezTo>
                    <a:pt x="118237" y="0"/>
                    <a:pt x="152400" y="34163"/>
                    <a:pt x="152400" y="76200"/>
                  </a:cubicBezTo>
                  <a:lnTo>
                    <a:pt x="152400" y="5394325"/>
                  </a:lnTo>
                  <a:cubicBezTo>
                    <a:pt x="152400" y="5436362"/>
                    <a:pt x="118237" y="5470525"/>
                    <a:pt x="76200" y="5470525"/>
                  </a:cubicBezTo>
                  <a:cubicBezTo>
                    <a:pt x="34163" y="5470525"/>
                    <a:pt x="0" y="5436362"/>
                    <a:pt x="0" y="5394325"/>
                  </a:cubicBezTo>
                  <a:close/>
                </a:path>
              </a:pathLst>
            </a:custGeom>
            <a:solidFill>
              <a:srgbClr val="224435"/>
            </a:solidFill>
          </p:spPr>
        </p:sp>
      </p:grpSp>
      <p:sp>
        <p:nvSpPr>
          <p:cNvPr name="TextBox 19" id="19"/>
          <p:cNvSpPr txBox="true"/>
          <p:nvPr/>
        </p:nvSpPr>
        <p:spPr>
          <a:xfrm rot="0">
            <a:off x="1354484" y="4580487"/>
            <a:ext cx="4015530"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Contoh</a:t>
            </a:r>
          </a:p>
        </p:txBody>
      </p:sp>
      <p:sp>
        <p:nvSpPr>
          <p:cNvPr name="TextBox 20" id="20"/>
          <p:cNvSpPr txBox="true"/>
          <p:nvPr/>
        </p:nvSpPr>
        <p:spPr>
          <a:xfrm rot="0">
            <a:off x="1354484" y="5059861"/>
            <a:ext cx="12007158" cy="473126"/>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"java" → "JAVA"</a:t>
            </a:r>
          </a:p>
        </p:txBody>
      </p:sp>
      <p:grpSp>
        <p:nvGrpSpPr>
          <p:cNvPr name="Group 21" id="21"/>
          <p:cNvGrpSpPr/>
          <p:nvPr/>
        </p:nvGrpSpPr>
        <p:grpSpPr>
          <a:xfrm rot="0">
            <a:off x="1354484" y="5812041"/>
            <a:ext cx="10474966" cy="1661370"/>
            <a:chOff x="0" y="0"/>
            <a:chExt cx="13966622" cy="2215159"/>
          </a:xfrm>
        </p:grpSpPr>
        <p:sp>
          <p:nvSpPr>
            <p:cNvPr name="Freeform 22" id="22" descr="preencoded.png"/>
            <p:cNvSpPr/>
            <p:nvPr/>
          </p:nvSpPr>
          <p:spPr>
            <a:xfrm flipH="false" flipV="false" rot="0">
              <a:off x="0" y="0"/>
              <a:ext cx="13966571" cy="2215134"/>
            </a:xfrm>
            <a:custGeom>
              <a:avLst/>
              <a:gdLst/>
              <a:ahLst/>
              <a:cxnLst/>
              <a:rect r="r" b="b" t="t" l="l"/>
              <a:pathLst>
                <a:path h="2215134" w="13966571">
                  <a:moveTo>
                    <a:pt x="0" y="0"/>
                  </a:moveTo>
                  <a:lnTo>
                    <a:pt x="13966571" y="0"/>
                  </a:lnTo>
                  <a:lnTo>
                    <a:pt x="13966571" y="2215134"/>
                  </a:lnTo>
                  <a:lnTo>
                    <a:pt x="0" y="2215134"/>
                  </a:lnTo>
                  <a:lnTo>
                    <a:pt x="0" y="0"/>
                  </a:lnTo>
                  <a:close/>
                </a:path>
              </a:pathLst>
            </a:custGeom>
            <a:blipFill>
              <a:blip r:embed="rId7"/>
              <a:stretch>
                <a:fillRect l="-133" t="0" r="-133" b="-1"/>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0" y="0"/>
            <a:ext cx="4572000" cy="10287000"/>
            <a:chOff x="0" y="0"/>
            <a:chExt cx="6096000" cy="13716000"/>
          </a:xfrm>
        </p:grpSpPr>
        <p:sp>
          <p:nvSpPr>
            <p:cNvPr name="Freeform 9" id="9" descr="preencoded.png"/>
            <p:cNvSpPr/>
            <p:nvPr/>
          </p:nvSpPr>
          <p:spPr>
            <a:xfrm flipH="false" flipV="false" rot="0">
              <a:off x="0" y="0"/>
              <a:ext cx="6096000" cy="13716000"/>
            </a:xfrm>
            <a:custGeom>
              <a:avLst/>
              <a:gdLst/>
              <a:ahLst/>
              <a:cxnLst/>
              <a:rect r="r" b="b" t="t" l="l"/>
              <a:pathLst>
                <a:path h="13716000" w="6096000">
                  <a:moveTo>
                    <a:pt x="0" y="0"/>
                  </a:moveTo>
                  <a:lnTo>
                    <a:pt x="6096000" y="0"/>
                  </a:lnTo>
                  <a:lnTo>
                    <a:pt x="6096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123977" y="215798"/>
            <a:ext cx="4323902" cy="9855251"/>
            <a:chOff x="0" y="0"/>
            <a:chExt cx="5765203" cy="13140334"/>
          </a:xfrm>
        </p:grpSpPr>
        <p:sp>
          <p:nvSpPr>
            <p:cNvPr name="Freeform 11" id="11" descr="preencoded.png"/>
            <p:cNvSpPr/>
            <p:nvPr/>
          </p:nvSpPr>
          <p:spPr>
            <a:xfrm flipH="false" flipV="false" rot="0">
              <a:off x="0" y="0"/>
              <a:ext cx="5765165" cy="13140310"/>
            </a:xfrm>
            <a:custGeom>
              <a:avLst/>
              <a:gdLst/>
              <a:ahLst/>
              <a:cxnLst/>
              <a:rect r="r" b="b" t="t" l="l"/>
              <a:pathLst>
                <a:path h="13140310" w="5765165">
                  <a:moveTo>
                    <a:pt x="0" y="0"/>
                  </a:moveTo>
                  <a:lnTo>
                    <a:pt x="5765165" y="0"/>
                  </a:lnTo>
                  <a:lnTo>
                    <a:pt x="5765165" y="13140310"/>
                  </a:lnTo>
                  <a:lnTo>
                    <a:pt x="0" y="13140310"/>
                  </a:lnTo>
                  <a:lnTo>
                    <a:pt x="0" y="0"/>
                  </a:lnTo>
                  <a:close/>
                </a:path>
              </a:pathLst>
            </a:custGeom>
            <a:blipFill>
              <a:blip r:embed="rId6"/>
              <a:stretch>
                <a:fillRect l="0" t="-46" r="0" b="-47"/>
              </a:stretch>
            </a:blipFill>
          </p:spPr>
        </p:sp>
      </p:grpSp>
      <p:sp>
        <p:nvSpPr>
          <p:cNvPr name="TextBox 12" id="12"/>
          <p:cNvSpPr txBox="true"/>
          <p:nvPr/>
        </p:nvSpPr>
        <p:spPr>
          <a:xfrm rot="0">
            <a:off x="5564238" y="1955302"/>
            <a:ext cx="8179441" cy="658263"/>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Penjelasan: toLowerCase()</a:t>
            </a:r>
          </a:p>
        </p:txBody>
      </p:sp>
      <p:sp>
        <p:nvSpPr>
          <p:cNvPr name="TextBox 13" id="13"/>
          <p:cNvSpPr txBox="true"/>
          <p:nvPr/>
        </p:nvSpPr>
        <p:spPr>
          <a:xfrm rot="0">
            <a:off x="5564238" y="2909440"/>
            <a:ext cx="11731523" cy="870052"/>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toLowerCase() mengubah semua huruf menjadi huruf kecil. Digunakan untuk perbandingan bebas-case dan standardisasi input.     Pastikan mempertimbangkan locale bila bekerja dengan karakter non-ASCII.   </a:t>
            </a:r>
          </a:p>
        </p:txBody>
      </p:sp>
      <p:grpSp>
        <p:nvGrpSpPr>
          <p:cNvPr name="Group 14" id="14"/>
          <p:cNvGrpSpPr/>
          <p:nvPr/>
        </p:nvGrpSpPr>
        <p:grpSpPr>
          <a:xfrm rot="0">
            <a:off x="5559476" y="4053783"/>
            <a:ext cx="11741048" cy="4244578"/>
            <a:chOff x="0" y="0"/>
            <a:chExt cx="15654731" cy="5659438"/>
          </a:xfrm>
        </p:grpSpPr>
        <p:sp>
          <p:nvSpPr>
            <p:cNvPr name="Freeform 15" id="15"/>
            <p:cNvSpPr/>
            <p:nvPr/>
          </p:nvSpPr>
          <p:spPr>
            <a:xfrm flipH="false" flipV="false" rot="0">
              <a:off x="6350" y="6350"/>
              <a:ext cx="15641954" cy="5646801"/>
            </a:xfrm>
            <a:custGeom>
              <a:avLst/>
              <a:gdLst/>
              <a:ahLst/>
              <a:cxnLst/>
              <a:rect r="r" b="b" t="t" l="l"/>
              <a:pathLst>
                <a:path h="5646801" w="15641954">
                  <a:moveTo>
                    <a:pt x="0" y="138938"/>
                  </a:moveTo>
                  <a:cubicBezTo>
                    <a:pt x="0" y="62230"/>
                    <a:pt x="62230" y="0"/>
                    <a:pt x="139065" y="0"/>
                  </a:cubicBezTo>
                  <a:lnTo>
                    <a:pt x="15502889" y="0"/>
                  </a:lnTo>
                  <a:cubicBezTo>
                    <a:pt x="15579725" y="0"/>
                    <a:pt x="15641954" y="62230"/>
                    <a:pt x="15641954" y="138938"/>
                  </a:cubicBezTo>
                  <a:lnTo>
                    <a:pt x="15641954" y="5507863"/>
                  </a:lnTo>
                  <a:cubicBezTo>
                    <a:pt x="15641954" y="5584571"/>
                    <a:pt x="15579725" y="5646801"/>
                    <a:pt x="15502889" y="5646801"/>
                  </a:cubicBezTo>
                  <a:lnTo>
                    <a:pt x="139065" y="5646801"/>
                  </a:lnTo>
                  <a:cubicBezTo>
                    <a:pt x="62230" y="5646801"/>
                    <a:pt x="0" y="5584571"/>
                    <a:pt x="0" y="5507863"/>
                  </a:cubicBezTo>
                  <a:close/>
                </a:path>
              </a:pathLst>
            </a:custGeom>
            <a:solidFill>
              <a:srgbClr val="DDEEE6"/>
            </a:solidFill>
          </p:spPr>
        </p:sp>
        <p:sp>
          <p:nvSpPr>
            <p:cNvPr name="Freeform 16" id="16"/>
            <p:cNvSpPr/>
            <p:nvPr/>
          </p:nvSpPr>
          <p:spPr>
            <a:xfrm flipH="false" flipV="false" rot="0">
              <a:off x="0" y="0"/>
              <a:ext cx="15654654" cy="5659501"/>
            </a:xfrm>
            <a:custGeom>
              <a:avLst/>
              <a:gdLst/>
              <a:ahLst/>
              <a:cxnLst/>
              <a:rect r="r" b="b" t="t" l="l"/>
              <a:pathLst>
                <a:path h="5659501" w="15654654">
                  <a:moveTo>
                    <a:pt x="0" y="145288"/>
                  </a:moveTo>
                  <a:cubicBezTo>
                    <a:pt x="0" y="65024"/>
                    <a:pt x="65151" y="0"/>
                    <a:pt x="145415" y="0"/>
                  </a:cubicBezTo>
                  <a:lnTo>
                    <a:pt x="15509239" y="0"/>
                  </a:lnTo>
                  <a:lnTo>
                    <a:pt x="15509239" y="6350"/>
                  </a:lnTo>
                  <a:lnTo>
                    <a:pt x="15509239" y="0"/>
                  </a:lnTo>
                  <a:cubicBezTo>
                    <a:pt x="15589504" y="0"/>
                    <a:pt x="15654654" y="65024"/>
                    <a:pt x="15654654" y="145288"/>
                  </a:cubicBezTo>
                  <a:lnTo>
                    <a:pt x="15648304" y="145288"/>
                  </a:lnTo>
                  <a:lnTo>
                    <a:pt x="15654654" y="145288"/>
                  </a:lnTo>
                  <a:lnTo>
                    <a:pt x="15654654" y="5514213"/>
                  </a:lnTo>
                  <a:lnTo>
                    <a:pt x="15648304" y="5514213"/>
                  </a:lnTo>
                  <a:lnTo>
                    <a:pt x="15654654" y="5514213"/>
                  </a:lnTo>
                  <a:cubicBezTo>
                    <a:pt x="15654654" y="5594477"/>
                    <a:pt x="15589504" y="5659501"/>
                    <a:pt x="15509239" y="5659501"/>
                  </a:cubicBezTo>
                  <a:lnTo>
                    <a:pt x="15509239" y="5653151"/>
                  </a:lnTo>
                  <a:lnTo>
                    <a:pt x="15509239" y="5659501"/>
                  </a:lnTo>
                  <a:lnTo>
                    <a:pt x="145415" y="5659501"/>
                  </a:lnTo>
                  <a:lnTo>
                    <a:pt x="145415" y="5653151"/>
                  </a:lnTo>
                  <a:lnTo>
                    <a:pt x="145415" y="5659501"/>
                  </a:lnTo>
                  <a:cubicBezTo>
                    <a:pt x="65151" y="5659501"/>
                    <a:pt x="0" y="5594350"/>
                    <a:pt x="0" y="5514213"/>
                  </a:cubicBezTo>
                  <a:lnTo>
                    <a:pt x="0" y="145288"/>
                  </a:lnTo>
                  <a:lnTo>
                    <a:pt x="6350" y="145288"/>
                  </a:lnTo>
                  <a:lnTo>
                    <a:pt x="0" y="145288"/>
                  </a:lnTo>
                  <a:moveTo>
                    <a:pt x="12700" y="145288"/>
                  </a:moveTo>
                  <a:lnTo>
                    <a:pt x="12700" y="5514213"/>
                  </a:lnTo>
                  <a:lnTo>
                    <a:pt x="6350" y="5514213"/>
                  </a:lnTo>
                  <a:lnTo>
                    <a:pt x="12700" y="5514213"/>
                  </a:lnTo>
                  <a:cubicBezTo>
                    <a:pt x="12700" y="5587365"/>
                    <a:pt x="72136" y="5646801"/>
                    <a:pt x="145415" y="5646801"/>
                  </a:cubicBezTo>
                  <a:lnTo>
                    <a:pt x="15509239" y="5646801"/>
                  </a:lnTo>
                  <a:cubicBezTo>
                    <a:pt x="15582519" y="5646801"/>
                    <a:pt x="15641954" y="5587492"/>
                    <a:pt x="15641954" y="5514213"/>
                  </a:cubicBezTo>
                  <a:lnTo>
                    <a:pt x="15641954" y="145288"/>
                  </a:lnTo>
                  <a:cubicBezTo>
                    <a:pt x="15641954" y="72136"/>
                    <a:pt x="15582519" y="12700"/>
                    <a:pt x="15509239" y="12700"/>
                  </a:cubicBezTo>
                  <a:lnTo>
                    <a:pt x="145415" y="12700"/>
                  </a:lnTo>
                  <a:lnTo>
                    <a:pt x="145415" y="6350"/>
                  </a:lnTo>
                  <a:lnTo>
                    <a:pt x="145415" y="12700"/>
                  </a:lnTo>
                  <a:cubicBezTo>
                    <a:pt x="72136" y="12700"/>
                    <a:pt x="12700" y="72009"/>
                    <a:pt x="12700" y="145288"/>
                  </a:cubicBezTo>
                  <a:close/>
                </a:path>
              </a:pathLst>
            </a:custGeom>
            <a:solidFill>
              <a:srgbClr val="C3D4CC"/>
            </a:solidFill>
          </p:spPr>
        </p:sp>
      </p:grpSp>
      <p:grpSp>
        <p:nvGrpSpPr>
          <p:cNvPr name="Group 17" id="17"/>
          <p:cNvGrpSpPr/>
          <p:nvPr/>
        </p:nvGrpSpPr>
        <p:grpSpPr>
          <a:xfrm rot="0">
            <a:off x="5821709" y="4316016"/>
            <a:ext cx="744141" cy="744141"/>
            <a:chOff x="0" y="0"/>
            <a:chExt cx="992188" cy="992188"/>
          </a:xfrm>
        </p:grpSpPr>
        <p:sp>
          <p:nvSpPr>
            <p:cNvPr name="Freeform 18" id="18"/>
            <p:cNvSpPr/>
            <p:nvPr/>
          </p:nvSpPr>
          <p:spPr>
            <a:xfrm flipH="false" flipV="false" rot="0">
              <a:off x="0" y="0"/>
              <a:ext cx="992124" cy="992124"/>
            </a:xfrm>
            <a:custGeom>
              <a:avLst/>
              <a:gdLst/>
              <a:ahLst/>
              <a:cxnLst/>
              <a:rect r="r" b="b" t="t" l="l"/>
              <a:pathLst>
                <a:path h="992124" w="992124">
                  <a:moveTo>
                    <a:pt x="0" y="496062"/>
                  </a:moveTo>
                  <a:cubicBezTo>
                    <a:pt x="0" y="222123"/>
                    <a:pt x="222123" y="0"/>
                    <a:pt x="496062" y="0"/>
                  </a:cubicBezTo>
                  <a:cubicBezTo>
                    <a:pt x="770001" y="0"/>
                    <a:pt x="992124" y="222123"/>
                    <a:pt x="992124" y="496062"/>
                  </a:cubicBezTo>
                  <a:cubicBezTo>
                    <a:pt x="992124" y="770001"/>
                    <a:pt x="770128" y="992124"/>
                    <a:pt x="496062" y="992124"/>
                  </a:cubicBezTo>
                  <a:cubicBezTo>
                    <a:pt x="221996" y="992124"/>
                    <a:pt x="0" y="770128"/>
                    <a:pt x="0" y="496062"/>
                  </a:cubicBezTo>
                  <a:close/>
                </a:path>
              </a:pathLst>
            </a:custGeom>
            <a:solidFill>
              <a:srgbClr val="224435"/>
            </a:solidFill>
          </p:spPr>
        </p:sp>
      </p:grpSp>
      <p:sp>
        <p:nvSpPr>
          <p:cNvPr name="Freeform 19" id="19" descr="preencoded.png"/>
          <p:cNvSpPr/>
          <p:nvPr/>
        </p:nvSpPr>
        <p:spPr>
          <a:xfrm flipH="false" flipV="false" rot="0">
            <a:off x="6026344" y="4520508"/>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7">
              <a:extLst>
                <a:ext uri="{96DAC541-7B7A-43D3-8B79-37D633B846F1}">
                  <asvg:svgBlip xmlns:asvg="http://schemas.microsoft.com/office/drawing/2016/SVG/main" r:embed="rId8"/>
                </a:ext>
              </a:extLst>
            </a:blip>
            <a:stretch>
              <a:fillRect l="0" t="-2779" r="0" b="-2776"/>
            </a:stretch>
          </a:blipFill>
        </p:spPr>
      </p:sp>
      <p:sp>
        <p:nvSpPr>
          <p:cNvPr name="TextBox 20" id="20"/>
          <p:cNvSpPr txBox="true"/>
          <p:nvPr/>
        </p:nvSpPr>
        <p:spPr>
          <a:xfrm rot="0">
            <a:off x="5821709" y="5289052"/>
            <a:ext cx="4015530"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Pemakaian</a:t>
            </a:r>
          </a:p>
        </p:txBody>
      </p:sp>
      <p:sp>
        <p:nvSpPr>
          <p:cNvPr name="TextBox 21" id="21"/>
          <p:cNvSpPr txBox="true"/>
          <p:nvPr/>
        </p:nvSpPr>
        <p:spPr>
          <a:xfrm rot="0">
            <a:off x="5821709" y="5768426"/>
            <a:ext cx="12130983" cy="473126"/>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Normalisasi input pencarian nama agar pencarian case-insensitive.</a:t>
            </a:r>
          </a:p>
        </p:txBody>
      </p:sp>
      <p:grpSp>
        <p:nvGrpSpPr>
          <p:cNvPr name="Group 22" id="22"/>
          <p:cNvGrpSpPr/>
          <p:nvPr/>
        </p:nvGrpSpPr>
        <p:grpSpPr>
          <a:xfrm rot="0">
            <a:off x="5821709" y="6520605"/>
            <a:ext cx="11215240" cy="1515513"/>
            <a:chOff x="0" y="0"/>
            <a:chExt cx="14953653" cy="2020684"/>
          </a:xfrm>
        </p:grpSpPr>
        <p:sp>
          <p:nvSpPr>
            <p:cNvPr name="Freeform 23" id="23" descr="preencoded.png"/>
            <p:cNvSpPr/>
            <p:nvPr/>
          </p:nvSpPr>
          <p:spPr>
            <a:xfrm flipH="false" flipV="false" rot="0">
              <a:off x="0" y="0"/>
              <a:ext cx="14953614" cy="2020697"/>
            </a:xfrm>
            <a:custGeom>
              <a:avLst/>
              <a:gdLst/>
              <a:ahLst/>
              <a:cxnLst/>
              <a:rect r="r" b="b" t="t" l="l"/>
              <a:pathLst>
                <a:path h="2020697" w="14953614">
                  <a:moveTo>
                    <a:pt x="0" y="0"/>
                  </a:moveTo>
                  <a:lnTo>
                    <a:pt x="14953614" y="0"/>
                  </a:lnTo>
                  <a:lnTo>
                    <a:pt x="14953614" y="2020697"/>
                  </a:lnTo>
                  <a:lnTo>
                    <a:pt x="0" y="2020697"/>
                  </a:lnTo>
                  <a:lnTo>
                    <a:pt x="0" y="0"/>
                  </a:lnTo>
                  <a:close/>
                </a:path>
              </a:pathLst>
            </a:custGeom>
            <a:blipFill>
              <a:blip r:embed="rId9"/>
              <a:stretch>
                <a:fillRect l="-15" t="0" r="-15"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12656639" y="123977"/>
            <a:ext cx="4404570" cy="10039055"/>
            <a:chOff x="0" y="0"/>
            <a:chExt cx="5872759" cy="13385406"/>
          </a:xfrm>
        </p:grpSpPr>
        <p:sp>
          <p:nvSpPr>
            <p:cNvPr name="Freeform 11" id="11" descr="preencoded.png"/>
            <p:cNvSpPr/>
            <p:nvPr/>
          </p:nvSpPr>
          <p:spPr>
            <a:xfrm flipH="false" flipV="false" rot="0">
              <a:off x="0" y="0"/>
              <a:ext cx="5872734" cy="13385419"/>
            </a:xfrm>
            <a:custGeom>
              <a:avLst/>
              <a:gdLst/>
              <a:ahLst/>
              <a:cxnLst/>
              <a:rect r="r" b="b" t="t" l="l"/>
              <a:pathLst>
                <a:path h="13385419" w="5872734">
                  <a:moveTo>
                    <a:pt x="0" y="0"/>
                  </a:moveTo>
                  <a:lnTo>
                    <a:pt x="5872734" y="0"/>
                  </a:lnTo>
                  <a:lnTo>
                    <a:pt x="5872734" y="13385419"/>
                  </a:lnTo>
                  <a:lnTo>
                    <a:pt x="0" y="13385419"/>
                  </a:lnTo>
                  <a:lnTo>
                    <a:pt x="0" y="0"/>
                  </a:lnTo>
                  <a:close/>
                </a:path>
              </a:pathLst>
            </a:custGeom>
            <a:blipFill>
              <a:blip r:embed="rId6"/>
              <a:stretch>
                <a:fillRect l="0" t="-47" r="0" b="-46"/>
              </a:stretch>
            </a:blipFill>
          </p:spPr>
        </p:sp>
      </p:grpSp>
      <p:sp>
        <p:nvSpPr>
          <p:cNvPr name="TextBox 12" id="12"/>
          <p:cNvSpPr txBox="true"/>
          <p:nvPr/>
        </p:nvSpPr>
        <p:spPr>
          <a:xfrm rot="0">
            <a:off x="992238" y="2167233"/>
            <a:ext cx="5876182" cy="658263"/>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Penjelasan: trim()</a:t>
            </a:r>
          </a:p>
        </p:txBody>
      </p:sp>
      <p:sp>
        <p:nvSpPr>
          <p:cNvPr name="TextBox 13" id="13"/>
          <p:cNvSpPr txBox="true"/>
          <p:nvPr/>
        </p:nvSpPr>
        <p:spPr>
          <a:xfrm rot="0">
            <a:off x="992238" y="3121371"/>
            <a:ext cx="9445523" cy="1266977"/>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trim() menghapus spasi di awal dan akhir string. Sangat penting untuk membersihkan input pengguna sebelum pemrosesan     (validasi, perbandingan, penyimpanan ke database).   </a:t>
            </a:r>
          </a:p>
        </p:txBody>
      </p:sp>
      <p:sp>
        <p:nvSpPr>
          <p:cNvPr name="Freeform 14" id="14" descr="preencoded.png"/>
          <p:cNvSpPr/>
          <p:nvPr/>
        </p:nvSpPr>
        <p:spPr>
          <a:xfrm flipH="false" flipV="false" rot="0">
            <a:off x="992238" y="4667402"/>
            <a:ext cx="620163" cy="620163"/>
          </a:xfrm>
          <a:custGeom>
            <a:avLst/>
            <a:gdLst/>
            <a:ahLst/>
            <a:cxnLst/>
            <a:rect r="r" b="b" t="t" l="l"/>
            <a:pathLst>
              <a:path h="620163" w="620163">
                <a:moveTo>
                  <a:pt x="0" y="0"/>
                </a:moveTo>
                <a:lnTo>
                  <a:pt x="620164" y="0"/>
                </a:lnTo>
                <a:lnTo>
                  <a:pt x="620164" y="620164"/>
                </a:lnTo>
                <a:lnTo>
                  <a:pt x="0" y="6201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992238" y="5578526"/>
            <a:ext cx="4015530" cy="406746"/>
          </a:xfrm>
          <a:prstGeom prst="rect">
            <a:avLst/>
          </a:prstGeom>
        </p:spPr>
        <p:txBody>
          <a:bodyPr anchor="t" rtlCol="false" tIns="0" lIns="0" bIns="0" rIns="0">
            <a:spAutoFit/>
          </a:bodyPr>
          <a:lstStyle/>
          <a:p>
            <a:pPr algn="l">
              <a:lnSpc>
                <a:spcPts val="2995"/>
              </a:lnSpc>
            </a:pPr>
            <a:r>
              <a:rPr lang="en-US" sz="2400" b="true">
                <a:solidFill>
                  <a:srgbClr val="3B4E4E"/>
                </a:solidFill>
                <a:latin typeface="Arimo Bold"/>
                <a:ea typeface="Arimo Bold"/>
                <a:cs typeface="Arimo Bold"/>
                <a:sym typeface="Arimo Bold"/>
              </a:rPr>
              <a:t>Contoh</a:t>
            </a:r>
          </a:p>
        </p:txBody>
      </p:sp>
      <p:sp>
        <p:nvSpPr>
          <p:cNvPr name="TextBox 16" id="16"/>
          <p:cNvSpPr txBox="true"/>
          <p:nvPr/>
        </p:nvSpPr>
        <p:spPr>
          <a:xfrm rot="0">
            <a:off x="992238" y="6057900"/>
            <a:ext cx="10359923" cy="473126"/>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java " → "java"</a:t>
            </a:r>
          </a:p>
        </p:txBody>
      </p:sp>
      <p:grpSp>
        <p:nvGrpSpPr>
          <p:cNvPr name="Group 17" id="17"/>
          <p:cNvGrpSpPr/>
          <p:nvPr/>
        </p:nvGrpSpPr>
        <p:grpSpPr>
          <a:xfrm rot="0">
            <a:off x="992238" y="6810080"/>
            <a:ext cx="7024087" cy="1271435"/>
            <a:chOff x="0" y="0"/>
            <a:chExt cx="9365450" cy="1695247"/>
          </a:xfrm>
        </p:grpSpPr>
        <p:sp>
          <p:nvSpPr>
            <p:cNvPr name="Freeform 18" id="18" descr="preencoded.png"/>
            <p:cNvSpPr/>
            <p:nvPr/>
          </p:nvSpPr>
          <p:spPr>
            <a:xfrm flipH="false" flipV="false" rot="0">
              <a:off x="0" y="0"/>
              <a:ext cx="9365488" cy="1695196"/>
            </a:xfrm>
            <a:custGeom>
              <a:avLst/>
              <a:gdLst/>
              <a:ahLst/>
              <a:cxnLst/>
              <a:rect r="r" b="b" t="t" l="l"/>
              <a:pathLst>
                <a:path h="1695196" w="9365488">
                  <a:moveTo>
                    <a:pt x="0" y="0"/>
                  </a:moveTo>
                  <a:lnTo>
                    <a:pt x="9365488" y="0"/>
                  </a:lnTo>
                  <a:lnTo>
                    <a:pt x="9365488" y="1695196"/>
                  </a:lnTo>
                  <a:lnTo>
                    <a:pt x="0" y="1695196"/>
                  </a:lnTo>
                  <a:lnTo>
                    <a:pt x="0" y="0"/>
                  </a:lnTo>
                  <a:close/>
                </a:path>
              </a:pathLst>
            </a:custGeom>
            <a:blipFill>
              <a:blip r:embed="rId9"/>
              <a:stretch>
                <a:fillRect l="-152" t="0" r="-152" b="-2"/>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12656639" y="123977"/>
            <a:ext cx="4404570" cy="10039055"/>
            <a:chOff x="0" y="0"/>
            <a:chExt cx="5872759" cy="13385406"/>
          </a:xfrm>
        </p:grpSpPr>
        <p:sp>
          <p:nvSpPr>
            <p:cNvPr name="Freeform 11" id="11" descr="preencoded.png"/>
            <p:cNvSpPr/>
            <p:nvPr/>
          </p:nvSpPr>
          <p:spPr>
            <a:xfrm flipH="false" flipV="false" rot="0">
              <a:off x="0" y="0"/>
              <a:ext cx="5872734" cy="13385419"/>
            </a:xfrm>
            <a:custGeom>
              <a:avLst/>
              <a:gdLst/>
              <a:ahLst/>
              <a:cxnLst/>
              <a:rect r="r" b="b" t="t" l="l"/>
              <a:pathLst>
                <a:path h="13385419" w="5872734">
                  <a:moveTo>
                    <a:pt x="0" y="0"/>
                  </a:moveTo>
                  <a:lnTo>
                    <a:pt x="5872734" y="0"/>
                  </a:lnTo>
                  <a:lnTo>
                    <a:pt x="5872734" y="13385419"/>
                  </a:lnTo>
                  <a:lnTo>
                    <a:pt x="0" y="13385419"/>
                  </a:lnTo>
                  <a:lnTo>
                    <a:pt x="0" y="0"/>
                  </a:lnTo>
                  <a:close/>
                </a:path>
              </a:pathLst>
            </a:custGeom>
            <a:blipFill>
              <a:blip r:embed="rId6"/>
              <a:stretch>
                <a:fillRect l="0" t="-47" r="0" b="-46"/>
              </a:stretch>
            </a:blipFill>
          </p:spPr>
        </p:sp>
      </p:grpSp>
      <p:sp>
        <p:nvSpPr>
          <p:cNvPr name="TextBox 12" id="12"/>
          <p:cNvSpPr txBox="true"/>
          <p:nvPr/>
        </p:nvSpPr>
        <p:spPr>
          <a:xfrm rot="0">
            <a:off x="992238" y="2077488"/>
            <a:ext cx="9445523" cy="1278436"/>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Penjelasan: substring() dan indexOf()</a:t>
            </a:r>
          </a:p>
        </p:txBody>
      </p:sp>
      <p:sp>
        <p:nvSpPr>
          <p:cNvPr name="TextBox 13" id="13"/>
          <p:cNvSpPr txBox="true"/>
          <p:nvPr/>
        </p:nvSpPr>
        <p:spPr>
          <a:xfrm rot="0">
            <a:off x="992238" y="3651799"/>
            <a:ext cx="9445523" cy="1266977"/>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substring(start, end) mengambil potongan teks berdasarkan indeks. Indeks dimulai dari 0.     indexOf(target) mengembalikan posisi pertama kemunculan target, atau -1 jika tidak ditemukan.   </a:t>
            </a:r>
          </a:p>
        </p:txBody>
      </p:sp>
      <p:sp>
        <p:nvSpPr>
          <p:cNvPr name="TextBox 14" id="14"/>
          <p:cNvSpPr txBox="true"/>
          <p:nvPr/>
        </p:nvSpPr>
        <p:spPr>
          <a:xfrm rot="0">
            <a:off x="992238" y="5426716"/>
            <a:ext cx="4015530" cy="406746"/>
          </a:xfrm>
          <a:prstGeom prst="rect">
            <a:avLst/>
          </a:prstGeom>
        </p:spPr>
        <p:txBody>
          <a:bodyPr anchor="t" rtlCol="false" tIns="0" lIns="0" bIns="0" rIns="0">
            <a:spAutoFit/>
          </a:bodyPr>
          <a:lstStyle/>
          <a:p>
            <a:pPr algn="l">
              <a:lnSpc>
                <a:spcPts val="2995"/>
              </a:lnSpc>
            </a:pPr>
            <a:r>
              <a:rPr lang="en-US" sz="2400" b="true">
                <a:solidFill>
                  <a:srgbClr val="233939"/>
                </a:solidFill>
                <a:latin typeface="Arimo Bold"/>
                <a:ea typeface="Arimo Bold"/>
                <a:cs typeface="Arimo Bold"/>
                <a:sym typeface="Arimo Bold"/>
              </a:rPr>
              <a:t>substring()</a:t>
            </a:r>
          </a:p>
        </p:txBody>
      </p:sp>
      <p:sp>
        <p:nvSpPr>
          <p:cNvPr name="TextBox 15" id="15"/>
          <p:cNvSpPr txBox="true"/>
          <p:nvPr/>
        </p:nvSpPr>
        <p:spPr>
          <a:xfrm rot="0">
            <a:off x="992238" y="6005217"/>
            <a:ext cx="4420200" cy="870052"/>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Contoh: "Bintang".substring(0,5) → "Binta"  (indeks: B=0, i=1, n=2, t=3, a=4)</a:t>
            </a:r>
          </a:p>
        </p:txBody>
      </p:sp>
      <p:sp>
        <p:nvSpPr>
          <p:cNvPr name="TextBox 16" id="16"/>
          <p:cNvSpPr txBox="true"/>
          <p:nvPr/>
        </p:nvSpPr>
        <p:spPr>
          <a:xfrm rot="0">
            <a:off x="6027096" y="5426716"/>
            <a:ext cx="4015530" cy="406746"/>
          </a:xfrm>
          <a:prstGeom prst="rect">
            <a:avLst/>
          </a:prstGeom>
        </p:spPr>
        <p:txBody>
          <a:bodyPr anchor="t" rtlCol="false" tIns="0" lIns="0" bIns="0" rIns="0">
            <a:spAutoFit/>
          </a:bodyPr>
          <a:lstStyle/>
          <a:p>
            <a:pPr algn="l">
              <a:lnSpc>
                <a:spcPts val="2995"/>
              </a:lnSpc>
            </a:pPr>
            <a:r>
              <a:rPr lang="en-US" sz="2400" b="true">
                <a:solidFill>
                  <a:srgbClr val="233939"/>
                </a:solidFill>
                <a:latin typeface="Arimo Bold"/>
                <a:ea typeface="Arimo Bold"/>
                <a:cs typeface="Arimo Bold"/>
                <a:sym typeface="Arimo Bold"/>
              </a:rPr>
              <a:t>indexOf()</a:t>
            </a:r>
          </a:p>
        </p:txBody>
      </p:sp>
      <p:sp>
        <p:nvSpPr>
          <p:cNvPr name="TextBox 17" id="17"/>
          <p:cNvSpPr txBox="true"/>
          <p:nvPr/>
        </p:nvSpPr>
        <p:spPr>
          <a:xfrm rot="0">
            <a:off x="6027096" y="6005217"/>
            <a:ext cx="4420200" cy="870052"/>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Contoh: "java".indexOf("v") → 2. Jika tidak ada → -1</a:t>
            </a:r>
          </a:p>
        </p:txBody>
      </p:sp>
      <p:sp>
        <p:nvSpPr>
          <p:cNvPr name="TextBox 18" id="18"/>
          <p:cNvSpPr txBox="true"/>
          <p:nvPr/>
        </p:nvSpPr>
        <p:spPr>
          <a:xfrm rot="0">
            <a:off x="992238" y="7301360"/>
            <a:ext cx="9445523" cy="870052"/>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 Penggunaan gabungan: cari posisi dengan indexOf(), lalu ekstrak bagian tertentu dengan substring() untuk mengekstrak nama depan atau inisial.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sp>
        <p:nvSpPr>
          <p:cNvPr name="TextBox 8" id="8"/>
          <p:cNvSpPr txBox="true"/>
          <p:nvPr/>
        </p:nvSpPr>
        <p:spPr>
          <a:xfrm rot="0">
            <a:off x="4253065" y="322059"/>
            <a:ext cx="6238132" cy="329060"/>
          </a:xfrm>
          <a:prstGeom prst="rect">
            <a:avLst/>
          </a:prstGeom>
        </p:spPr>
        <p:txBody>
          <a:bodyPr anchor="t" rtlCol="false" tIns="0" lIns="0" bIns="0" rIns="0">
            <a:spAutoFit/>
          </a:bodyPr>
          <a:lstStyle/>
          <a:p>
            <a:pPr algn="l">
              <a:lnSpc>
                <a:spcPts val="2371"/>
              </a:lnSpc>
            </a:pPr>
            <a:r>
              <a:rPr lang="en-US" sz="1900" b="true">
                <a:solidFill>
                  <a:srgbClr val="233939"/>
                </a:solidFill>
                <a:latin typeface="Arimo Bold"/>
                <a:ea typeface="Arimo Bold"/>
                <a:cs typeface="Arimo Bold"/>
                <a:sym typeface="Arimo Bold"/>
              </a:rPr>
              <a:t>Potongan Code (Contoh Implementasi)</a:t>
            </a:r>
          </a:p>
        </p:txBody>
      </p:sp>
      <p:grpSp>
        <p:nvGrpSpPr>
          <p:cNvPr name="Group 9" id="9"/>
          <p:cNvGrpSpPr/>
          <p:nvPr/>
        </p:nvGrpSpPr>
        <p:grpSpPr>
          <a:xfrm rot="0">
            <a:off x="4949719" y="651119"/>
            <a:ext cx="9781880" cy="11547577"/>
            <a:chOff x="0" y="0"/>
            <a:chExt cx="13042506" cy="15396769"/>
          </a:xfrm>
        </p:grpSpPr>
        <p:sp>
          <p:nvSpPr>
            <p:cNvPr name="Freeform 10" id="10"/>
            <p:cNvSpPr/>
            <p:nvPr/>
          </p:nvSpPr>
          <p:spPr>
            <a:xfrm flipH="false" flipV="false" rot="0">
              <a:off x="0" y="0"/>
              <a:ext cx="13042519" cy="15396719"/>
            </a:xfrm>
            <a:custGeom>
              <a:avLst/>
              <a:gdLst/>
              <a:ahLst/>
              <a:cxnLst/>
              <a:rect r="r" b="b" t="t" l="l"/>
              <a:pathLst>
                <a:path h="15396719" w="13042519">
                  <a:moveTo>
                    <a:pt x="0" y="69469"/>
                  </a:moveTo>
                  <a:cubicBezTo>
                    <a:pt x="0" y="31115"/>
                    <a:pt x="31115" y="0"/>
                    <a:pt x="69469" y="0"/>
                  </a:cubicBezTo>
                  <a:lnTo>
                    <a:pt x="12973050" y="0"/>
                  </a:lnTo>
                  <a:cubicBezTo>
                    <a:pt x="13011404" y="0"/>
                    <a:pt x="13042519" y="31115"/>
                    <a:pt x="13042519" y="69469"/>
                  </a:cubicBezTo>
                  <a:lnTo>
                    <a:pt x="13042519" y="15327249"/>
                  </a:lnTo>
                  <a:cubicBezTo>
                    <a:pt x="13042519" y="15365603"/>
                    <a:pt x="13011404" y="15396719"/>
                    <a:pt x="12973050" y="15396719"/>
                  </a:cubicBezTo>
                  <a:lnTo>
                    <a:pt x="69469" y="15396719"/>
                  </a:lnTo>
                  <a:cubicBezTo>
                    <a:pt x="31115" y="15396719"/>
                    <a:pt x="0" y="15365603"/>
                    <a:pt x="0" y="15327249"/>
                  </a:cubicBezTo>
                  <a:close/>
                </a:path>
              </a:pathLst>
            </a:custGeom>
            <a:solidFill>
              <a:srgbClr val="F2F0D9"/>
            </a:solidFill>
          </p:spPr>
        </p:sp>
      </p:grpSp>
      <p:sp>
        <p:nvSpPr>
          <p:cNvPr name="TextBox 11" id="11"/>
          <p:cNvSpPr txBox="true"/>
          <p:nvPr/>
        </p:nvSpPr>
        <p:spPr>
          <a:xfrm rot="0">
            <a:off x="5216117" y="850871"/>
            <a:ext cx="8770176" cy="10458421"/>
          </a:xfrm>
          <a:prstGeom prst="rect">
            <a:avLst/>
          </a:prstGeom>
        </p:spPr>
        <p:txBody>
          <a:bodyPr anchor="t" rtlCol="false" tIns="0" lIns="0" bIns="0" rIns="0">
            <a:spAutoFit/>
          </a:bodyPr>
          <a:lstStyle/>
          <a:p>
            <a:pPr algn="l">
              <a:lnSpc>
                <a:spcPts val="998"/>
              </a:lnSpc>
            </a:pPr>
            <a:r>
              <a:rPr lang="en-US" sz="832">
                <a:solidFill>
                  <a:srgbClr val="D73A49"/>
                </a:solidFill>
                <a:latin typeface="Consolas"/>
                <a:ea typeface="Consolas"/>
                <a:cs typeface="Consolas"/>
                <a:sym typeface="Consolas"/>
              </a:rPr>
              <a:t>package com.example.myapplication;</a:t>
            </a:r>
          </a:p>
          <a:p>
            <a:pPr algn="l">
              <a:lnSpc>
                <a:spcPts val="998"/>
              </a:lnSpc>
            </a:pPr>
          </a:p>
          <a:p>
            <a:pPr algn="l">
              <a:lnSpc>
                <a:spcPts val="998"/>
              </a:lnSpc>
            </a:pPr>
            <a:r>
              <a:rPr lang="en-US" sz="832">
                <a:solidFill>
                  <a:srgbClr val="D73A49"/>
                </a:solidFill>
                <a:latin typeface="Consolas"/>
                <a:ea typeface="Consolas"/>
                <a:cs typeface="Consolas"/>
                <a:sym typeface="Consolas"/>
              </a:rPr>
              <a:t>import android.os.Bundle;</a:t>
            </a:r>
          </a:p>
          <a:p>
            <a:pPr algn="l">
              <a:lnSpc>
                <a:spcPts val="998"/>
              </a:lnSpc>
            </a:pPr>
            <a:r>
              <a:rPr lang="en-US" sz="832">
                <a:solidFill>
                  <a:srgbClr val="D73A49"/>
                </a:solidFill>
                <a:latin typeface="Consolas"/>
                <a:ea typeface="Consolas"/>
                <a:cs typeface="Consolas"/>
                <a:sym typeface="Consolas"/>
              </a:rPr>
              <a:t>import android.view.View;</a:t>
            </a:r>
          </a:p>
          <a:p>
            <a:pPr algn="l">
              <a:lnSpc>
                <a:spcPts val="998"/>
              </a:lnSpc>
            </a:pPr>
            <a:r>
              <a:rPr lang="en-US" sz="832">
                <a:solidFill>
                  <a:srgbClr val="D73A49"/>
                </a:solidFill>
                <a:latin typeface="Consolas"/>
                <a:ea typeface="Consolas"/>
                <a:cs typeface="Consolas"/>
                <a:sym typeface="Consolas"/>
              </a:rPr>
              <a:t>import android.widget.EditText;</a:t>
            </a:r>
          </a:p>
          <a:p>
            <a:pPr algn="l">
              <a:lnSpc>
                <a:spcPts val="998"/>
              </a:lnSpc>
            </a:pPr>
            <a:r>
              <a:rPr lang="en-US" sz="832">
                <a:solidFill>
                  <a:srgbClr val="D73A49"/>
                </a:solidFill>
                <a:latin typeface="Consolas"/>
                <a:ea typeface="Consolas"/>
                <a:cs typeface="Consolas"/>
                <a:sym typeface="Consolas"/>
              </a:rPr>
              <a:t>import android.widget.TextView;</a:t>
            </a:r>
          </a:p>
          <a:p>
            <a:pPr algn="l">
              <a:lnSpc>
                <a:spcPts val="998"/>
              </a:lnSpc>
            </a:pPr>
          </a:p>
          <a:p>
            <a:pPr algn="l">
              <a:lnSpc>
                <a:spcPts val="998"/>
              </a:lnSpc>
            </a:pPr>
          </a:p>
          <a:p>
            <a:pPr algn="l">
              <a:lnSpc>
                <a:spcPts val="998"/>
              </a:lnSpc>
            </a:pPr>
            <a:r>
              <a:rPr lang="en-US" sz="832">
                <a:solidFill>
                  <a:srgbClr val="D73A49"/>
                </a:solidFill>
                <a:latin typeface="Consolas"/>
                <a:ea typeface="Consolas"/>
                <a:cs typeface="Consolas"/>
                <a:sym typeface="Consolas"/>
              </a:rPr>
              <a:t>import androidx.activity.EdgeToEdge;</a:t>
            </a:r>
          </a:p>
          <a:p>
            <a:pPr algn="l">
              <a:lnSpc>
                <a:spcPts val="998"/>
              </a:lnSpc>
            </a:pPr>
            <a:r>
              <a:rPr lang="en-US" sz="832">
                <a:solidFill>
                  <a:srgbClr val="D73A49"/>
                </a:solidFill>
                <a:latin typeface="Consolas"/>
                <a:ea typeface="Consolas"/>
                <a:cs typeface="Consolas"/>
                <a:sym typeface="Consolas"/>
              </a:rPr>
              <a:t>import androidx.appcompat.app.AppCompatActivity;</a:t>
            </a:r>
          </a:p>
          <a:p>
            <a:pPr algn="l">
              <a:lnSpc>
                <a:spcPts val="998"/>
              </a:lnSpc>
            </a:pPr>
            <a:r>
              <a:rPr lang="en-US" sz="832">
                <a:solidFill>
                  <a:srgbClr val="D73A49"/>
                </a:solidFill>
                <a:latin typeface="Consolas"/>
                <a:ea typeface="Consolas"/>
                <a:cs typeface="Consolas"/>
                <a:sym typeface="Consolas"/>
              </a:rPr>
              <a:t>import androidx.core.graphics.Insets;</a:t>
            </a:r>
          </a:p>
          <a:p>
            <a:pPr algn="l">
              <a:lnSpc>
                <a:spcPts val="998"/>
              </a:lnSpc>
            </a:pPr>
            <a:r>
              <a:rPr lang="en-US" sz="832">
                <a:solidFill>
                  <a:srgbClr val="D73A49"/>
                </a:solidFill>
                <a:latin typeface="Consolas"/>
                <a:ea typeface="Consolas"/>
                <a:cs typeface="Consolas"/>
                <a:sym typeface="Consolas"/>
              </a:rPr>
              <a:t>import androidx.core.view.ViewCompat;</a:t>
            </a:r>
          </a:p>
          <a:p>
            <a:pPr algn="l">
              <a:lnSpc>
                <a:spcPts val="998"/>
              </a:lnSpc>
            </a:pPr>
            <a:r>
              <a:rPr lang="en-US" sz="832">
                <a:solidFill>
                  <a:srgbClr val="D73A49"/>
                </a:solidFill>
                <a:latin typeface="Consolas"/>
                <a:ea typeface="Consolas"/>
                <a:cs typeface="Consolas"/>
                <a:sym typeface="Consolas"/>
              </a:rPr>
              <a:t>import androidx.core.view.WindowInsetsCompat;</a:t>
            </a:r>
          </a:p>
          <a:p>
            <a:pPr algn="l">
              <a:lnSpc>
                <a:spcPts val="998"/>
              </a:lnSpc>
            </a:pPr>
            <a:r>
              <a:rPr lang="en-US" sz="832">
                <a:solidFill>
                  <a:srgbClr val="D73A49"/>
                </a:solidFill>
                <a:latin typeface="Consolas"/>
                <a:ea typeface="Consolas"/>
                <a:cs typeface="Consolas"/>
                <a:sym typeface="Consolas"/>
              </a:rPr>
              <a:t>import android.widget.Toast;</a:t>
            </a:r>
          </a:p>
          <a:p>
            <a:pPr algn="l">
              <a:lnSpc>
                <a:spcPts val="998"/>
              </a:lnSpc>
            </a:pPr>
          </a:p>
          <a:p>
            <a:pPr algn="l">
              <a:lnSpc>
                <a:spcPts val="998"/>
              </a:lnSpc>
            </a:pPr>
            <a:r>
              <a:rPr lang="en-US" sz="832">
                <a:solidFill>
                  <a:srgbClr val="D73A49"/>
                </a:solidFill>
                <a:latin typeface="Consolas"/>
                <a:ea typeface="Consolas"/>
                <a:cs typeface="Consolas"/>
                <a:sym typeface="Consolas"/>
              </a:rPr>
              <a:t>public class MainActivity extends AppCompatActivity {</a:t>
            </a:r>
          </a:p>
          <a:p>
            <a:pPr algn="l">
              <a:lnSpc>
                <a:spcPts val="998"/>
              </a:lnSpc>
            </a:pPr>
          </a:p>
          <a:p>
            <a:pPr algn="l">
              <a:lnSpc>
                <a:spcPts val="998"/>
              </a:lnSpc>
            </a:pPr>
            <a:r>
              <a:rPr lang="en-US" sz="832">
                <a:solidFill>
                  <a:srgbClr val="D73A49"/>
                </a:solidFill>
                <a:latin typeface="Consolas"/>
                <a:ea typeface="Consolas"/>
                <a:cs typeface="Consolas"/>
                <a:sym typeface="Consolas"/>
              </a:rPr>
              <a:t>    @Override</a:t>
            </a:r>
          </a:p>
          <a:p>
            <a:pPr algn="l">
              <a:lnSpc>
                <a:spcPts val="998"/>
              </a:lnSpc>
            </a:pPr>
            <a:r>
              <a:rPr lang="en-US" sz="832">
                <a:solidFill>
                  <a:srgbClr val="D73A49"/>
                </a:solidFill>
                <a:latin typeface="Consolas"/>
                <a:ea typeface="Consolas"/>
                <a:cs typeface="Consolas"/>
                <a:sym typeface="Consolas"/>
              </a:rPr>
              <a:t>    protected void onCreate(Bundle savedInstanceState) {</a:t>
            </a:r>
          </a:p>
          <a:p>
            <a:pPr algn="l">
              <a:lnSpc>
                <a:spcPts val="998"/>
              </a:lnSpc>
            </a:pPr>
            <a:r>
              <a:rPr lang="en-US" sz="832">
                <a:solidFill>
                  <a:srgbClr val="D73A49"/>
                </a:solidFill>
                <a:latin typeface="Consolas"/>
                <a:ea typeface="Consolas"/>
                <a:cs typeface="Consolas"/>
                <a:sym typeface="Consolas"/>
              </a:rPr>
              <a:t>        super.onCreate(savedInstanceState);</a:t>
            </a:r>
          </a:p>
          <a:p>
            <a:pPr algn="l">
              <a:lnSpc>
                <a:spcPts val="998"/>
              </a:lnSpc>
            </a:pPr>
            <a:r>
              <a:rPr lang="en-US" sz="832">
                <a:solidFill>
                  <a:srgbClr val="D73A49"/>
                </a:solidFill>
                <a:latin typeface="Consolas"/>
                <a:ea typeface="Consolas"/>
                <a:cs typeface="Consolas"/>
                <a:sym typeface="Consolas"/>
              </a:rPr>
              <a:t>        EdgeToEdge.enable(this);</a:t>
            </a:r>
          </a:p>
          <a:p>
            <a:pPr algn="l">
              <a:lnSpc>
                <a:spcPts val="998"/>
              </a:lnSpc>
            </a:pPr>
            <a:r>
              <a:rPr lang="en-US" sz="832">
                <a:solidFill>
                  <a:srgbClr val="D73A49"/>
                </a:solidFill>
                <a:latin typeface="Consolas"/>
                <a:ea typeface="Consolas"/>
                <a:cs typeface="Consolas"/>
                <a:sym typeface="Consolas"/>
              </a:rPr>
              <a:t>        setContentView(R.layout.activity_main);</a:t>
            </a:r>
          </a:p>
          <a:p>
            <a:pPr algn="l">
              <a:lnSpc>
                <a:spcPts val="998"/>
              </a:lnSpc>
            </a:pPr>
          </a:p>
          <a:p>
            <a:pPr algn="l">
              <a:lnSpc>
                <a:spcPts val="998"/>
              </a:lnSpc>
            </a:pPr>
          </a:p>
          <a:p>
            <a:pPr algn="l">
              <a:lnSpc>
                <a:spcPts val="998"/>
              </a:lnSpc>
            </a:pPr>
            <a:r>
              <a:rPr lang="en-US" sz="832">
                <a:solidFill>
                  <a:srgbClr val="D73A49"/>
                </a:solidFill>
                <a:latin typeface="Consolas"/>
                <a:ea typeface="Consolas"/>
                <a:cs typeface="Consolas"/>
                <a:sym typeface="Consolas"/>
              </a:rPr>
              <a:t>    }</a:t>
            </a:r>
          </a:p>
          <a:p>
            <a:pPr algn="l">
              <a:lnSpc>
                <a:spcPts val="998"/>
              </a:lnSpc>
            </a:pPr>
            <a:r>
              <a:rPr lang="en-US" sz="832">
                <a:solidFill>
                  <a:srgbClr val="D73A49"/>
                </a:solidFill>
                <a:latin typeface="Consolas"/>
                <a:ea typeface="Consolas"/>
                <a:cs typeface="Consolas"/>
                <a:sym typeface="Consolas"/>
              </a:rPr>
              <a:t>    public void ubah(View view) {</a:t>
            </a:r>
          </a:p>
          <a:p>
            <a:pPr algn="l">
              <a:lnSpc>
                <a:spcPts val="998"/>
              </a:lnSpc>
            </a:pPr>
            <a:r>
              <a:rPr lang="en-US" sz="832">
                <a:solidFill>
                  <a:srgbClr val="D73A49"/>
                </a:solidFill>
                <a:latin typeface="Consolas"/>
                <a:ea typeface="Consolas"/>
                <a:cs typeface="Consolas"/>
                <a:sym typeface="Consolas"/>
              </a:rPr>
              <a:t>        // identifire</a:t>
            </a:r>
          </a:p>
          <a:p>
            <a:pPr algn="l">
              <a:lnSpc>
                <a:spcPts val="998"/>
              </a:lnSpc>
            </a:pPr>
            <a:r>
              <a:rPr lang="en-US" sz="832">
                <a:solidFill>
                  <a:srgbClr val="D73A49"/>
                </a:solidFill>
                <a:latin typeface="Consolas"/>
                <a:ea typeface="Consolas"/>
                <a:cs typeface="Consolas"/>
                <a:sym typeface="Consolas"/>
              </a:rPr>
              <a:t>        final EditText nama = findViewById(R.id.Nama);</a:t>
            </a:r>
          </a:p>
          <a:p>
            <a:pPr algn="l">
              <a:lnSpc>
                <a:spcPts val="998"/>
              </a:lnSpc>
            </a:pPr>
            <a:r>
              <a:rPr lang="en-US" sz="832">
                <a:solidFill>
                  <a:srgbClr val="D73A49"/>
                </a:solidFill>
                <a:latin typeface="Consolas"/>
                <a:ea typeface="Consolas"/>
                <a:cs typeface="Consolas"/>
                <a:sym typeface="Consolas"/>
              </a:rPr>
              <a:t>        final TextView lbl = findViewById(R.id.lbl);</a:t>
            </a:r>
          </a:p>
          <a:p>
            <a:pPr algn="l">
              <a:lnSpc>
                <a:spcPts val="998"/>
              </a:lnSpc>
            </a:pPr>
            <a:r>
              <a:rPr lang="en-US" sz="832">
                <a:solidFill>
                  <a:srgbClr val="D73A49"/>
                </a:solidFill>
                <a:latin typeface="Consolas"/>
                <a:ea typeface="Consolas"/>
                <a:cs typeface="Consolas"/>
                <a:sym typeface="Consolas"/>
              </a:rPr>
              <a:t>        final EditText cari = findViewById(R.id.cariHuruf);</a:t>
            </a:r>
          </a:p>
          <a:p>
            <a:pPr algn="l">
              <a:lnSpc>
                <a:spcPts val="998"/>
              </a:lnSpc>
            </a:pPr>
          </a:p>
          <a:p>
            <a:pPr algn="l">
              <a:lnSpc>
                <a:spcPts val="998"/>
              </a:lnSpc>
            </a:pPr>
            <a:r>
              <a:rPr lang="en-US" sz="832">
                <a:solidFill>
                  <a:srgbClr val="D73A49"/>
                </a:solidFill>
                <a:latin typeface="Consolas"/>
                <a:ea typeface="Consolas"/>
                <a:cs typeface="Consolas"/>
                <a:sym typeface="Consolas"/>
              </a:rPr>
              <a:t>        // disini kita ambil text yang di tulisakn</a:t>
            </a:r>
          </a:p>
          <a:p>
            <a:pPr algn="l">
              <a:lnSpc>
                <a:spcPts val="998"/>
              </a:lnSpc>
            </a:pPr>
          </a:p>
          <a:p>
            <a:pPr algn="l">
              <a:lnSpc>
                <a:spcPts val="998"/>
              </a:lnSpc>
            </a:pPr>
            <a:r>
              <a:rPr lang="en-US" sz="832">
                <a:solidFill>
                  <a:srgbClr val="D73A49"/>
                </a:solidFill>
                <a:latin typeface="Consolas"/>
                <a:ea typeface="Consolas"/>
                <a:cs typeface="Consolas"/>
                <a:sym typeface="Consolas"/>
              </a:rPr>
              <a:t>        String pesan = nama.getText().toString();</a:t>
            </a:r>
          </a:p>
          <a:p>
            <a:pPr algn="l">
              <a:lnSpc>
                <a:spcPts val="998"/>
              </a:lnSpc>
            </a:pPr>
            <a:r>
              <a:rPr lang="en-US" sz="832">
                <a:solidFill>
                  <a:srgbClr val="D73A49"/>
                </a:solidFill>
                <a:latin typeface="Consolas"/>
                <a:ea typeface="Consolas"/>
                <a:cs typeface="Consolas"/>
                <a:sym typeface="Consolas"/>
              </a:rPr>
              <a:t>        String hurufcari = cari.getText().toString();</a:t>
            </a:r>
          </a:p>
          <a:p>
            <a:pPr algn="l">
              <a:lnSpc>
                <a:spcPts val="998"/>
              </a:lnSpc>
            </a:pPr>
          </a:p>
          <a:p>
            <a:pPr algn="l">
              <a:lnSpc>
                <a:spcPts val="998"/>
              </a:lnSpc>
            </a:pPr>
            <a:r>
              <a:rPr lang="en-US" sz="832">
                <a:solidFill>
                  <a:srgbClr val="D73A49"/>
                </a:solidFill>
                <a:latin typeface="Consolas"/>
                <a:ea typeface="Consolas"/>
                <a:cs typeface="Consolas"/>
                <a:sym typeface="Consolas"/>
              </a:rPr>
              <a:t>        //fungsi string</a:t>
            </a:r>
          </a:p>
          <a:p>
            <a:pPr algn="l">
              <a:lnSpc>
                <a:spcPts val="998"/>
              </a:lnSpc>
            </a:pPr>
            <a:r>
              <a:rPr lang="en-US" sz="832">
                <a:solidFill>
                  <a:srgbClr val="D73A49"/>
                </a:solidFill>
                <a:latin typeface="Consolas"/>
                <a:ea typeface="Consolas"/>
                <a:cs typeface="Consolas"/>
                <a:sym typeface="Consolas"/>
              </a:rPr>
              <a:t>        int panjang = pesan.length();</a:t>
            </a:r>
          </a:p>
          <a:p>
            <a:pPr algn="l">
              <a:lnSpc>
                <a:spcPts val="998"/>
              </a:lnSpc>
            </a:pPr>
          </a:p>
          <a:p>
            <a:pPr algn="l">
              <a:lnSpc>
                <a:spcPts val="998"/>
              </a:lnSpc>
            </a:pPr>
            <a:r>
              <a:rPr lang="en-US" sz="832">
                <a:solidFill>
                  <a:srgbClr val="D73A49"/>
                </a:solidFill>
                <a:latin typeface="Consolas"/>
                <a:ea typeface="Consolas"/>
                <a:cs typeface="Consolas"/>
                <a:sym typeface="Consolas"/>
              </a:rPr>
              <a:t>        String besar = pesan.toUpperCase();</a:t>
            </a:r>
          </a:p>
          <a:p>
            <a:pPr algn="l">
              <a:lnSpc>
                <a:spcPts val="998"/>
              </a:lnSpc>
            </a:pPr>
          </a:p>
          <a:p>
            <a:pPr algn="l">
              <a:lnSpc>
                <a:spcPts val="998"/>
              </a:lnSpc>
            </a:pPr>
            <a:r>
              <a:rPr lang="en-US" sz="832">
                <a:solidFill>
                  <a:srgbClr val="D73A49"/>
                </a:solidFill>
                <a:latin typeface="Consolas"/>
                <a:ea typeface="Consolas"/>
                <a:cs typeface="Consolas"/>
                <a:sym typeface="Consolas"/>
              </a:rPr>
              <a:t>        String kecil = pesan.toLowerCase();</a:t>
            </a:r>
          </a:p>
          <a:p>
            <a:pPr algn="l">
              <a:lnSpc>
                <a:spcPts val="998"/>
              </a:lnSpc>
            </a:pPr>
          </a:p>
          <a:p>
            <a:pPr algn="l">
              <a:lnSpc>
                <a:spcPts val="998"/>
              </a:lnSpc>
            </a:pPr>
            <a:r>
              <a:rPr lang="en-US" sz="832">
                <a:solidFill>
                  <a:srgbClr val="D73A49"/>
                </a:solidFill>
                <a:latin typeface="Consolas"/>
                <a:ea typeface="Consolas"/>
                <a:cs typeface="Consolas"/>
                <a:sym typeface="Consolas"/>
              </a:rPr>
              <a:t>        String trim = pesan.trim();</a:t>
            </a:r>
          </a:p>
          <a:p>
            <a:pPr algn="l">
              <a:lnSpc>
                <a:spcPts val="998"/>
              </a:lnSpc>
            </a:pPr>
          </a:p>
          <a:p>
            <a:pPr algn="l">
              <a:lnSpc>
                <a:spcPts val="998"/>
              </a:lnSpc>
            </a:pPr>
            <a:r>
              <a:rPr lang="en-US" sz="832">
                <a:solidFill>
                  <a:srgbClr val="D73A49"/>
                </a:solidFill>
                <a:latin typeface="Consolas"/>
                <a:ea typeface="Consolas"/>
                <a:cs typeface="Consolas"/>
                <a:sym typeface="Consolas"/>
              </a:rPr>
              <a:t>        String sub ;</a:t>
            </a:r>
          </a:p>
          <a:p>
            <a:pPr algn="l">
              <a:lnSpc>
                <a:spcPts val="998"/>
              </a:lnSpc>
            </a:pPr>
          </a:p>
          <a:p>
            <a:pPr algn="l">
              <a:lnSpc>
                <a:spcPts val="998"/>
              </a:lnSpc>
            </a:pPr>
            <a:r>
              <a:rPr lang="en-US" sz="832">
                <a:solidFill>
                  <a:srgbClr val="D73A49"/>
                </a:solidFill>
                <a:latin typeface="Consolas"/>
                <a:ea typeface="Consolas"/>
                <a:cs typeface="Consolas"/>
                <a:sym typeface="Consolas"/>
              </a:rPr>
              <a:t>        if(pesan.length() &gt;=5){</a:t>
            </a:r>
          </a:p>
          <a:p>
            <a:pPr algn="l">
              <a:lnSpc>
                <a:spcPts val="998"/>
              </a:lnSpc>
            </a:pPr>
            <a:r>
              <a:rPr lang="en-US" sz="832">
                <a:solidFill>
                  <a:srgbClr val="D73A49"/>
                </a:solidFill>
                <a:latin typeface="Consolas"/>
                <a:ea typeface="Consolas"/>
                <a:cs typeface="Consolas"/>
                <a:sym typeface="Consolas"/>
              </a:rPr>
              <a:t>            sub = pesan.substring(0,5);</a:t>
            </a:r>
          </a:p>
          <a:p>
            <a:pPr algn="l">
              <a:lnSpc>
                <a:spcPts val="998"/>
              </a:lnSpc>
            </a:pPr>
          </a:p>
          <a:p>
            <a:pPr algn="l">
              <a:lnSpc>
                <a:spcPts val="998"/>
              </a:lnSpc>
            </a:pPr>
            <a:r>
              <a:rPr lang="en-US" sz="832">
                <a:solidFill>
                  <a:srgbClr val="D73A49"/>
                </a:solidFill>
                <a:latin typeface="Consolas"/>
                <a:ea typeface="Consolas"/>
                <a:cs typeface="Consolas"/>
                <a:sym typeface="Consolas"/>
              </a:rPr>
              <a:t>        }else if(pesan.length() &gt;=1){</a:t>
            </a:r>
          </a:p>
          <a:p>
            <a:pPr algn="l">
              <a:lnSpc>
                <a:spcPts val="998"/>
              </a:lnSpc>
            </a:pPr>
          </a:p>
          <a:p>
            <a:pPr algn="l">
              <a:lnSpc>
                <a:spcPts val="998"/>
              </a:lnSpc>
            </a:pPr>
            <a:r>
              <a:rPr lang="en-US" sz="832">
                <a:solidFill>
                  <a:srgbClr val="D73A49"/>
                </a:solidFill>
                <a:latin typeface="Consolas"/>
                <a:ea typeface="Consolas"/>
                <a:cs typeface="Consolas"/>
                <a:sym typeface="Consolas"/>
              </a:rPr>
              <a:t>            sub = "huruf kurang dari lima huruf";</a:t>
            </a:r>
          </a:p>
          <a:p>
            <a:pPr algn="l">
              <a:lnSpc>
                <a:spcPts val="998"/>
              </a:lnSpc>
            </a:pPr>
            <a:r>
              <a:rPr lang="en-US" sz="832">
                <a:solidFill>
                  <a:srgbClr val="D73A49"/>
                </a:solidFill>
                <a:latin typeface="Consolas"/>
                <a:ea typeface="Consolas"/>
                <a:cs typeface="Consolas"/>
                <a:sym typeface="Consolas"/>
              </a:rPr>
              <a:t>        }else{</a:t>
            </a:r>
          </a:p>
          <a:p>
            <a:pPr algn="l">
              <a:lnSpc>
                <a:spcPts val="998"/>
              </a:lnSpc>
            </a:pPr>
            <a:r>
              <a:rPr lang="en-US" sz="832">
                <a:solidFill>
                  <a:srgbClr val="D73A49"/>
                </a:solidFill>
                <a:latin typeface="Consolas"/>
                <a:ea typeface="Consolas"/>
                <a:cs typeface="Consolas"/>
                <a:sym typeface="Consolas"/>
              </a:rPr>
              <a:t>            Toast.makeText(this,"input tidak boleh kosong!",Toast.LENGTH_SHORT).show();</a:t>
            </a:r>
          </a:p>
          <a:p>
            <a:pPr algn="l">
              <a:lnSpc>
                <a:spcPts val="998"/>
              </a:lnSpc>
            </a:pPr>
            <a:r>
              <a:rPr lang="en-US" sz="832">
                <a:solidFill>
                  <a:srgbClr val="D73A49"/>
                </a:solidFill>
                <a:latin typeface="Consolas"/>
                <a:ea typeface="Consolas"/>
                <a:cs typeface="Consolas"/>
                <a:sym typeface="Consolas"/>
              </a:rPr>
              <a:t>            return;</a:t>
            </a:r>
          </a:p>
          <a:p>
            <a:pPr algn="l">
              <a:lnSpc>
                <a:spcPts val="998"/>
              </a:lnSpc>
            </a:pPr>
            <a:r>
              <a:rPr lang="en-US" sz="832">
                <a:solidFill>
                  <a:srgbClr val="D73A49"/>
                </a:solidFill>
                <a:latin typeface="Consolas"/>
                <a:ea typeface="Consolas"/>
                <a:cs typeface="Consolas"/>
                <a:sym typeface="Consolas"/>
              </a:rPr>
              <a:t>        }</a:t>
            </a:r>
          </a:p>
          <a:p>
            <a:pPr algn="l">
              <a:lnSpc>
                <a:spcPts val="998"/>
              </a:lnSpc>
            </a:pPr>
            <a:r>
              <a:rPr lang="en-US" sz="832">
                <a:solidFill>
                  <a:srgbClr val="D73A49"/>
                </a:solidFill>
                <a:latin typeface="Consolas"/>
                <a:ea typeface="Consolas"/>
                <a:cs typeface="Consolas"/>
                <a:sym typeface="Consolas"/>
              </a:rPr>
              <a:t>        int posisi = pesan.indexOf(hurufcari);</a:t>
            </a:r>
          </a:p>
          <a:p>
            <a:pPr algn="l">
              <a:lnSpc>
                <a:spcPts val="998"/>
              </a:lnSpc>
            </a:pPr>
            <a:r>
              <a:rPr lang="en-US" sz="832">
                <a:solidFill>
                  <a:srgbClr val="D73A49"/>
                </a:solidFill>
                <a:latin typeface="Consolas"/>
                <a:ea typeface="Consolas"/>
                <a:cs typeface="Consolas"/>
                <a:sym typeface="Consolas"/>
              </a:rPr>
              <a:t>        String hasilposisi;</a:t>
            </a:r>
          </a:p>
          <a:p>
            <a:pPr algn="l">
              <a:lnSpc>
                <a:spcPts val="998"/>
              </a:lnSpc>
            </a:pPr>
            <a:r>
              <a:rPr lang="en-US" sz="832">
                <a:solidFill>
                  <a:srgbClr val="D73A49"/>
                </a:solidFill>
                <a:latin typeface="Consolas"/>
                <a:ea typeface="Consolas"/>
                <a:cs typeface="Consolas"/>
                <a:sym typeface="Consolas"/>
              </a:rPr>
              <a:t>        if(posisi == -1){</a:t>
            </a:r>
          </a:p>
          <a:p>
            <a:pPr algn="l">
              <a:lnSpc>
                <a:spcPts val="998"/>
              </a:lnSpc>
            </a:pPr>
            <a:r>
              <a:rPr lang="en-US" sz="832">
                <a:solidFill>
                  <a:srgbClr val="D73A49"/>
                </a:solidFill>
                <a:latin typeface="Consolas"/>
                <a:ea typeface="Consolas"/>
                <a:cs typeface="Consolas"/>
                <a:sym typeface="Consolas"/>
              </a:rPr>
              <a:t>            Toast.makeText(this,"huruf tidak ditemukan!",Toast.LENGTH_SHORT).show();</a:t>
            </a:r>
          </a:p>
          <a:p>
            <a:pPr algn="l">
              <a:lnSpc>
                <a:spcPts val="998"/>
              </a:lnSpc>
            </a:pPr>
            <a:r>
              <a:rPr lang="en-US" sz="832">
                <a:solidFill>
                  <a:srgbClr val="D73A49"/>
                </a:solidFill>
                <a:latin typeface="Consolas"/>
                <a:ea typeface="Consolas"/>
                <a:cs typeface="Consolas"/>
                <a:sym typeface="Consolas"/>
              </a:rPr>
              <a:t>            return;</a:t>
            </a:r>
          </a:p>
          <a:p>
            <a:pPr algn="l">
              <a:lnSpc>
                <a:spcPts val="998"/>
              </a:lnSpc>
            </a:pPr>
            <a:r>
              <a:rPr lang="en-US" sz="832">
                <a:solidFill>
                  <a:srgbClr val="D73A49"/>
                </a:solidFill>
                <a:latin typeface="Consolas"/>
                <a:ea typeface="Consolas"/>
                <a:cs typeface="Consolas"/>
                <a:sym typeface="Consolas"/>
              </a:rPr>
              <a:t>        }else {</a:t>
            </a:r>
          </a:p>
          <a:p>
            <a:pPr algn="l">
              <a:lnSpc>
                <a:spcPts val="998"/>
              </a:lnSpc>
            </a:pPr>
            <a:r>
              <a:rPr lang="en-US" sz="832">
                <a:solidFill>
                  <a:srgbClr val="D73A49"/>
                </a:solidFill>
                <a:latin typeface="Consolas"/>
                <a:ea typeface="Consolas"/>
                <a:cs typeface="Consolas"/>
                <a:sym typeface="Consolas"/>
              </a:rPr>
              <a:t>            hasilposisi = String.valueOf(posisi);</a:t>
            </a:r>
          </a:p>
          <a:p>
            <a:pPr algn="l">
              <a:lnSpc>
                <a:spcPts val="998"/>
              </a:lnSpc>
            </a:pPr>
            <a:r>
              <a:rPr lang="en-US" sz="832">
                <a:solidFill>
                  <a:srgbClr val="D73A49"/>
                </a:solidFill>
                <a:latin typeface="Consolas"/>
                <a:ea typeface="Consolas"/>
                <a:cs typeface="Consolas"/>
                <a:sym typeface="Consolas"/>
              </a:rPr>
              <a:t>        }</a:t>
            </a:r>
          </a:p>
          <a:p>
            <a:pPr algn="l">
              <a:lnSpc>
                <a:spcPts val="998"/>
              </a:lnSpc>
            </a:pPr>
          </a:p>
          <a:p>
            <a:pPr algn="l">
              <a:lnSpc>
                <a:spcPts val="998"/>
              </a:lnSpc>
            </a:pPr>
            <a:r>
              <a:rPr lang="en-US" sz="832">
                <a:solidFill>
                  <a:srgbClr val="D73A49"/>
                </a:solidFill>
                <a:latin typeface="Consolas"/>
                <a:ea typeface="Consolas"/>
                <a:cs typeface="Consolas"/>
                <a:sym typeface="Consolas"/>
              </a:rPr>
              <a:t>        // disini kita akan menampilkan hasil</a:t>
            </a:r>
          </a:p>
          <a:p>
            <a:pPr algn="l">
              <a:lnSpc>
                <a:spcPts val="998"/>
              </a:lnSpc>
            </a:pPr>
            <a:r>
              <a:rPr lang="en-US" sz="832">
                <a:solidFill>
                  <a:srgbClr val="D73A49"/>
                </a:solidFill>
                <a:latin typeface="Consolas"/>
                <a:ea typeface="Consolas"/>
                <a:cs typeface="Consolas"/>
                <a:sym typeface="Consolas"/>
              </a:rPr>
              <a:t>        String hasil = "nama asli : "+pesan+" \n\njumlah huruf : "+panjang+" \n\nbesar huruf : " + besar+"\n\n huruf kecil : " + kecil+"\n\ntrim : "+trim+"\n\nsubstring : "+sub+ "\n\nhuruf yang dicari : "+hurufcari+"\n\nposisi : "+hasilposisi;</a:t>
            </a:r>
          </a:p>
          <a:p>
            <a:pPr algn="l">
              <a:lnSpc>
                <a:spcPts val="998"/>
              </a:lnSpc>
            </a:pPr>
          </a:p>
          <a:p>
            <a:pPr algn="l">
              <a:lnSpc>
                <a:spcPts val="998"/>
              </a:lnSpc>
            </a:pPr>
          </a:p>
          <a:p>
            <a:pPr algn="l">
              <a:lnSpc>
                <a:spcPts val="998"/>
              </a:lnSpc>
            </a:pPr>
          </a:p>
          <a:p>
            <a:pPr algn="l">
              <a:lnSpc>
                <a:spcPts val="998"/>
              </a:lnSpc>
            </a:pPr>
            <a:r>
              <a:rPr lang="en-US" sz="832">
                <a:solidFill>
                  <a:srgbClr val="D73A49"/>
                </a:solidFill>
                <a:latin typeface="Consolas"/>
                <a:ea typeface="Consolas"/>
                <a:cs typeface="Consolas"/>
                <a:sym typeface="Consolas"/>
              </a:rPr>
              <a:t>        // main code/ atau kita menampilkan dari edit text  ke text view</a:t>
            </a:r>
          </a:p>
          <a:p>
            <a:pPr algn="l">
              <a:lnSpc>
                <a:spcPts val="998"/>
              </a:lnSpc>
            </a:pPr>
            <a:r>
              <a:rPr lang="en-US" sz="832">
                <a:solidFill>
                  <a:srgbClr val="D73A49"/>
                </a:solidFill>
                <a:latin typeface="Consolas"/>
                <a:ea typeface="Consolas"/>
                <a:cs typeface="Consolas"/>
                <a:sym typeface="Consolas"/>
              </a:rPr>
              <a:t>        lbl.setText(hasil);</a:t>
            </a:r>
          </a:p>
          <a:p>
            <a:pPr algn="l">
              <a:lnSpc>
                <a:spcPts val="998"/>
              </a:lnSpc>
            </a:pPr>
            <a:r>
              <a:rPr lang="en-US" sz="832">
                <a:solidFill>
                  <a:srgbClr val="D73A49"/>
                </a:solidFill>
                <a:latin typeface="Consolas"/>
                <a:ea typeface="Consolas"/>
                <a:cs typeface="Consolas"/>
                <a:sym typeface="Consolas"/>
              </a:rPr>
              <a:t>    }</a:t>
            </a:r>
          </a:p>
          <a:p>
            <a:pPr algn="l">
              <a:lnSpc>
                <a:spcPts val="998"/>
              </a:lnSpc>
            </a:pPr>
            <a:r>
              <a:rPr lang="en-US" sz="832">
                <a:solidFill>
                  <a:srgbClr val="D73A49"/>
                </a:solidFill>
                <a:latin typeface="Consolas"/>
                <a:ea typeface="Consolas"/>
                <a:cs typeface="Consolas"/>
                <a:sym typeface="Consolas"/>
              </a:rPr>
              <a:t>}</a:t>
            </a:r>
          </a:p>
        </p:txBody>
      </p:sp>
      <p:sp>
        <p:nvSpPr>
          <p:cNvPr name="Freeform 12" id="12"/>
          <p:cNvSpPr/>
          <p:nvPr/>
        </p:nvSpPr>
        <p:spPr>
          <a:xfrm flipH="false" flipV="false" rot="0">
            <a:off x="1361305" y="1459382"/>
            <a:ext cx="2885654" cy="2882047"/>
          </a:xfrm>
          <a:custGeom>
            <a:avLst/>
            <a:gdLst/>
            <a:ahLst/>
            <a:cxnLst/>
            <a:rect r="r" b="b" t="t" l="l"/>
            <a:pathLst>
              <a:path h="2882047" w="2885654">
                <a:moveTo>
                  <a:pt x="0" y="0"/>
                </a:moveTo>
                <a:lnTo>
                  <a:pt x="2885654" y="0"/>
                </a:lnTo>
                <a:lnTo>
                  <a:pt x="2885654" y="2882048"/>
                </a:lnTo>
                <a:lnTo>
                  <a:pt x="0" y="2882048"/>
                </a:lnTo>
                <a:lnTo>
                  <a:pt x="0" y="0"/>
                </a:lnTo>
                <a:close/>
              </a:path>
            </a:pathLst>
          </a:custGeom>
          <a:blipFill>
            <a:blip r:embed="rId5"/>
            <a:stretch>
              <a:fillRect l="0" t="0" r="0" b="0"/>
            </a:stretch>
          </a:blipFill>
        </p:spPr>
      </p:sp>
      <p:sp>
        <p:nvSpPr>
          <p:cNvPr name="TextBox 13" id="13"/>
          <p:cNvSpPr txBox="true"/>
          <p:nvPr/>
        </p:nvSpPr>
        <p:spPr>
          <a:xfrm rot="0">
            <a:off x="4253065" y="12361364"/>
            <a:ext cx="10696280" cy="148676"/>
          </a:xfrm>
          <a:prstGeom prst="rect">
            <a:avLst/>
          </a:prstGeom>
        </p:spPr>
        <p:txBody>
          <a:bodyPr anchor="t" rtlCol="false" tIns="0" lIns="0" bIns="0" rIns="0">
            <a:spAutoFit/>
          </a:bodyPr>
          <a:lstStyle/>
          <a:p>
            <a:pPr algn="l">
              <a:lnSpc>
                <a:spcPts val="1080"/>
              </a:lnSpc>
            </a:pPr>
            <a:r>
              <a:rPr lang="en-US" sz="900">
                <a:solidFill>
                  <a:srgbClr val="3B4E4E"/>
                </a:solidFill>
                <a:latin typeface="Overpass Light"/>
                <a:ea typeface="Overpass Light"/>
                <a:cs typeface="Overpass Light"/>
                <a:sym typeface="Overpass Light"/>
              </a:rPr>
              <a:t> Gaya: tema gelap, syntax highlight, kartu kode dengan rounded corners. Gunakan praktik validasi input sebelum pemrosesan.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sp>
        <p:nvSpPr>
          <p:cNvPr name="TextBox 8" id="8"/>
          <p:cNvSpPr txBox="true"/>
          <p:nvPr/>
        </p:nvSpPr>
        <p:spPr>
          <a:xfrm rot="0">
            <a:off x="4253065" y="12361364"/>
            <a:ext cx="10696280" cy="148676"/>
          </a:xfrm>
          <a:prstGeom prst="rect">
            <a:avLst/>
          </a:prstGeom>
        </p:spPr>
        <p:txBody>
          <a:bodyPr anchor="t" rtlCol="false" tIns="0" lIns="0" bIns="0" rIns="0">
            <a:spAutoFit/>
          </a:bodyPr>
          <a:lstStyle/>
          <a:p>
            <a:pPr algn="l">
              <a:lnSpc>
                <a:spcPts val="1080"/>
              </a:lnSpc>
            </a:pPr>
            <a:r>
              <a:rPr lang="en-US" sz="900">
                <a:solidFill>
                  <a:srgbClr val="3B4E4E"/>
                </a:solidFill>
                <a:latin typeface="Overpass Light"/>
                <a:ea typeface="Overpass Light"/>
                <a:cs typeface="Overpass Light"/>
                <a:sym typeface="Overpass Light"/>
              </a:rPr>
              <a:t> Gaya: tema gelap, syntax highlight, kartu kode dengan rounded corners. Gunakan praktik validasi input sebelum pemrosesan.</a:t>
            </a:r>
          </a:p>
        </p:txBody>
      </p:sp>
      <p:sp>
        <p:nvSpPr>
          <p:cNvPr name="TextBox 9" id="9"/>
          <p:cNvSpPr txBox="true"/>
          <p:nvPr/>
        </p:nvSpPr>
        <p:spPr>
          <a:xfrm rot="0">
            <a:off x="7572119" y="2359457"/>
            <a:ext cx="2807414" cy="623926"/>
          </a:xfrm>
          <a:prstGeom prst="rect">
            <a:avLst/>
          </a:prstGeom>
        </p:spPr>
        <p:txBody>
          <a:bodyPr anchor="t" rtlCol="false" tIns="0" lIns="0" bIns="0" rIns="0">
            <a:spAutoFit/>
          </a:bodyPr>
          <a:lstStyle/>
          <a:p>
            <a:pPr algn="l">
              <a:lnSpc>
                <a:spcPts val="4867"/>
              </a:lnSpc>
            </a:pPr>
            <a:r>
              <a:rPr lang="en-US" sz="3900" b="true">
                <a:solidFill>
                  <a:srgbClr val="233939"/>
                </a:solidFill>
                <a:latin typeface="Arimo Bold"/>
                <a:ea typeface="Arimo Bold"/>
                <a:cs typeface="Arimo Bold"/>
                <a:sym typeface="Arimo Bold"/>
              </a:rPr>
              <a:t>Kesimpulan</a:t>
            </a:r>
          </a:p>
        </p:txBody>
      </p:sp>
      <p:sp>
        <p:nvSpPr>
          <p:cNvPr name="TextBox 10" id="10"/>
          <p:cNvSpPr txBox="true"/>
          <p:nvPr/>
        </p:nvSpPr>
        <p:spPr>
          <a:xfrm rot="0">
            <a:off x="4253065" y="3764601"/>
            <a:ext cx="9445523" cy="3409645"/>
          </a:xfrm>
          <a:prstGeom prst="rect">
            <a:avLst/>
          </a:prstGeom>
        </p:spPr>
        <p:txBody>
          <a:bodyPr anchor="t" rtlCol="false" tIns="0" lIns="0" bIns="0" rIns="0">
            <a:spAutoFit/>
          </a:bodyPr>
          <a:lstStyle/>
          <a:p>
            <a:pPr algn="l">
              <a:lnSpc>
                <a:spcPts val="3032"/>
              </a:lnSpc>
            </a:pPr>
            <a:r>
              <a:rPr lang="en-US" sz="1900">
                <a:solidFill>
                  <a:srgbClr val="3B4E4E"/>
                </a:solidFill>
                <a:latin typeface="Overpass Light"/>
                <a:ea typeface="Overpass Light"/>
                <a:cs typeface="Overpass Light"/>
                <a:sym typeface="Overpass Light"/>
              </a:rPr>
              <a:t>Aplikasi Pengolahan Biodata Mahasiswa berbasis Java Android Studio ini berhasil mengimplementasikan enam fungsi String utama, yaitu length(), toUpperCase(), toLowerCase(), trim(), substring(), and indexOf(). Penggunaan fungsi-fungsi ini terbukti sangat efektif untuk mengolah, menyaring, dan menstandardisasi input teks biodata secara real-time, seperti membersihkan spasi liar di ujung kata atau mengubah format huruf menjadi kapital untuk nama resmi. Selain itu, aspek keamanan kode (code safety) juga diterapkan dengan baik melalui validasi kondisi if-else sebelum fungsi substring() dieksekusi, sehingga aplikasi menjadi lebih stabil, kokoh, dan terhindar dari risiko error crash (IndexOutOfBoundsException) saat dijalankan.</a:t>
            </a:r>
          </a:p>
        </p:txBody>
      </p:sp>
      <p:sp>
        <p:nvSpPr>
          <p:cNvPr name="Freeform 11" id="11"/>
          <p:cNvSpPr/>
          <p:nvPr/>
        </p:nvSpPr>
        <p:spPr>
          <a:xfrm flipH="false" flipV="false" rot="0">
            <a:off x="1479114" y="1781721"/>
            <a:ext cx="821178" cy="908749"/>
          </a:xfrm>
          <a:custGeom>
            <a:avLst/>
            <a:gdLst/>
            <a:ahLst/>
            <a:cxnLst/>
            <a:rect r="r" b="b" t="t" l="l"/>
            <a:pathLst>
              <a:path h="908749" w="821178">
                <a:moveTo>
                  <a:pt x="0" y="0"/>
                </a:moveTo>
                <a:lnTo>
                  <a:pt x="821178" y="0"/>
                </a:lnTo>
                <a:lnTo>
                  <a:pt x="821178" y="908749"/>
                </a:lnTo>
                <a:lnTo>
                  <a:pt x="0" y="908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4B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E6"/>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sp>
        <p:nvSpPr>
          <p:cNvPr name="Freeform 8" id="8"/>
          <p:cNvSpPr/>
          <p:nvPr/>
        </p:nvSpPr>
        <p:spPr>
          <a:xfrm flipH="false" flipV="false" rot="0">
            <a:off x="1028700" y="3137684"/>
            <a:ext cx="4399191" cy="3491414"/>
          </a:xfrm>
          <a:custGeom>
            <a:avLst/>
            <a:gdLst/>
            <a:ahLst/>
            <a:cxnLst/>
            <a:rect r="r" b="b" t="t" l="l"/>
            <a:pathLst>
              <a:path h="3491414" w="4399191">
                <a:moveTo>
                  <a:pt x="0" y="0"/>
                </a:moveTo>
                <a:lnTo>
                  <a:pt x="4399191" y="0"/>
                </a:lnTo>
                <a:lnTo>
                  <a:pt x="4399191" y="3491414"/>
                </a:lnTo>
                <a:lnTo>
                  <a:pt x="0" y="3491414"/>
                </a:lnTo>
                <a:lnTo>
                  <a:pt x="0" y="0"/>
                </a:lnTo>
                <a:close/>
              </a:path>
            </a:pathLst>
          </a:custGeom>
          <a:blipFill>
            <a:blip r:embed="rId5"/>
            <a:stretch>
              <a:fillRect l="0" t="-11511" r="0" b="-11511"/>
            </a:stretch>
          </a:blipFill>
        </p:spPr>
      </p:sp>
      <p:sp>
        <p:nvSpPr>
          <p:cNvPr name="TextBox 9" id="9"/>
          <p:cNvSpPr txBox="true"/>
          <p:nvPr/>
        </p:nvSpPr>
        <p:spPr>
          <a:xfrm rot="0">
            <a:off x="4253065" y="12361364"/>
            <a:ext cx="10696280" cy="148676"/>
          </a:xfrm>
          <a:prstGeom prst="rect">
            <a:avLst/>
          </a:prstGeom>
        </p:spPr>
        <p:txBody>
          <a:bodyPr anchor="t" rtlCol="false" tIns="0" lIns="0" bIns="0" rIns="0">
            <a:spAutoFit/>
          </a:bodyPr>
          <a:lstStyle/>
          <a:p>
            <a:pPr algn="l">
              <a:lnSpc>
                <a:spcPts val="1080"/>
              </a:lnSpc>
            </a:pPr>
            <a:r>
              <a:rPr lang="en-US" sz="900">
                <a:solidFill>
                  <a:srgbClr val="3B4E4E"/>
                </a:solidFill>
                <a:latin typeface="Overpass Light"/>
                <a:ea typeface="Overpass Light"/>
                <a:cs typeface="Overpass Light"/>
                <a:sym typeface="Overpass Light"/>
              </a:rPr>
              <a:t> Gaya: tema gelap, syntax highlight, kartu kode dengan rounded corners. Gunakan praktik validasi input sebelum pemrosesan.</a:t>
            </a:r>
          </a:p>
        </p:txBody>
      </p:sp>
      <p:sp>
        <p:nvSpPr>
          <p:cNvPr name="TextBox 10" id="10"/>
          <p:cNvSpPr txBox="true"/>
          <p:nvPr/>
        </p:nvSpPr>
        <p:spPr>
          <a:xfrm rot="0">
            <a:off x="6404106" y="3722778"/>
            <a:ext cx="9654253" cy="1922964"/>
          </a:xfrm>
          <a:prstGeom prst="rect">
            <a:avLst/>
          </a:prstGeom>
        </p:spPr>
        <p:txBody>
          <a:bodyPr anchor="t" rtlCol="false" tIns="0" lIns="0" bIns="0" rIns="0">
            <a:spAutoFit/>
          </a:bodyPr>
          <a:lstStyle/>
          <a:p>
            <a:pPr algn="l">
              <a:lnSpc>
                <a:spcPts val="15106"/>
              </a:lnSpc>
            </a:pPr>
            <a:r>
              <a:rPr lang="en-US" sz="12104" b="true">
                <a:solidFill>
                  <a:srgbClr val="233939"/>
                </a:solidFill>
                <a:latin typeface="Arimo Bold"/>
                <a:ea typeface="Arimo Bold"/>
                <a:cs typeface="Arimo Bold"/>
                <a:sym typeface="Arimo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DAHKJXMb19c</dc:identifier>
  <dcterms:modified xsi:type="dcterms:W3CDTF">2011-08-01T06:04:30Z</dcterms:modified>
  <cp:revision>1</cp:revision>
  <dc:title>Aplikasi-Pengolahan-Biodata-Mahasiswa-Menggunakan-Fungsi-String-Pada-Java-Android-Studio.pptx</dc:title>
</cp:coreProperties>
</file>